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embeddedFontLst>
    <p:embeddedFont>
      <p:font typeface="IBM Plex Sans" panose="020F0502020204030204" pitchFamily="34" charset="0"/>
      <p:regular r:id="rId8"/>
      <p:bold r:id="rId9"/>
    </p:embeddedFont>
    <p:embeddedFont>
      <p:font typeface="JetBrains Mono" panose="020B0604020202020204" charset="0"/>
      <p:regular r:id="rId10"/>
      <p:bold r:id="rId1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925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Open with the one-line promise: every plan this system writes is checked before a human reads it. Introduce the four team members, then hand over to the problem.</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Three views in one: the stack (FastAPI, ReactJS, Gemini, PostgreSQL), the two-pipeline architecture with the Comparator as the only gate, and the eight-step workflow from company documents to a verified plan.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Pipeline 1: Gemini 2.5-flash with model fallback, Pydantic-validated structured output, two calls per module, grounded claims, and a zero-AI fallback. Pipeline 2: no AI SDK imports at all — matrix coverage, prerequisite order, and an independent verdict. The Comparator is the only gate.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 real requirement from the running system: R054, a mandatory MFA policy. Six fields compared, five agree. 'Assessed' is the single disagreement, so the verdict is Verified with Warning — publishable only with a logged reason. Blocking findings cannot be overridden at all.</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Close on the promise: verified, not just generated. Invite the panel's questions and hand the floor back to the team.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A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41A2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49041"/>
            <a:ext cx="10566400" cy="4196159"/>
          </a:xfrm>
          <a:prstGeom prst="rect">
            <a:avLst/>
          </a:prstGeom>
          <a:noFill/>
          <a:ln/>
        </p:spPr>
        <p:txBody>
          <a:bodyPr wrap="square" lIns="0" tIns="0" rIns="0" bIns="0" rtlCol="0" anchor="t"/>
          <a:lstStyle>
            <a:lvl1pPr marL="0" indent="0" algn="l">
              <a:lnSpc>
                <a:spcPct val="140000"/>
              </a:lnSpc>
              <a:buNone/>
              <a:defRPr lang="en-US" sz="1600" dirty="0">
                <a:solidFill>
                  <a:srgbClr val="141A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531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141A2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49041"/>
            <a:ext cx="10566400" cy="4196159"/>
          </a:xfrm>
          <a:prstGeom prst="rect">
            <a:avLst/>
          </a:prstGeom>
          <a:noFill/>
          <a:ln/>
        </p:spPr>
        <p:txBody>
          <a:bodyPr wrap="square" lIns="0" tIns="0" rIns="0" bIns="0" rtlCol="0" anchor="t"/>
          <a:lstStyle>
            <a:lvl1pPr marL="0" indent="0" algn="l">
              <a:lnSpc>
                <a:spcPct val="140000"/>
              </a:lnSpc>
              <a:buNone/>
              <a:defRPr lang="en-US" sz="1600" dirty="0">
                <a:solidFill>
                  <a:srgbClr val="141A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6858000"/>
          </a:xfrm>
          <a:prstGeom prst="rect">
            <a:avLst/>
          </a:prstGeom>
          <a:gradFill rotWithShape="1">
            <a:gsLst>
              <a:gs pos="0">
                <a:srgbClr val="141A2B"/>
              </a:gs>
              <a:gs pos="100000">
                <a:srgbClr val="1C2742"/>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13816" y="1097280"/>
            <a:ext cx="5943600" cy="804672"/>
          </a:xfrm>
        </p:spPr>
        <p:txBody>
          <a:bodyPr wrap="square" lIns="0" tIns="0" rIns="0" bIns="0" anchor="t">
            <a:noAutofit/>
          </a:bodyPr>
          <a:lstStyle/>
          <a:p>
            <a:pPr algn="l">
              <a:lnSpc>
                <a:spcPct val="100000"/>
              </a:lnSpc>
            </a:pPr>
            <a:r>
              <a:rPr sz="5400" b="1">
                <a:solidFill>
                  <a:srgbClr val="F3F4F1"/>
                </a:solidFill>
                <a:latin typeface="IBM Plex Sans"/>
                <a:ea typeface="IBM Plex Sans"/>
                <a:cs typeface="IBM Plex Sans"/>
              </a:rPr>
              <a:t>SkillSprint AI</a:t>
            </a:r>
          </a:p>
        </p:txBody>
      </p:sp>
      <p:pic>
        <p:nvPicPr>
          <p:cNvPr id="4" name="Picture 3" descr="image4.png"/>
          <p:cNvPicPr>
            <a:picLocks noChangeAspect="1"/>
          </p:cNvPicPr>
          <p:nvPr/>
        </p:nvPicPr>
        <p:blipFill>
          <a:blip r:embed="rId3"/>
          <a:stretch>
            <a:fillRect/>
          </a:stretch>
        </p:blipFill>
        <p:spPr>
          <a:xfrm>
            <a:off x="7434072" y="969264"/>
            <a:ext cx="3941063" cy="4928616"/>
          </a:xfrm>
          <a:prstGeom prst="rect">
            <a:avLst/>
          </a:prstGeom>
          <a:ln w="9525">
            <a:solidFill>
              <a:srgbClr val="2A3550"/>
            </a:solidFill>
          </a:ln>
        </p:spPr>
      </p:pic>
      <p:sp>
        <p:nvSpPr>
          <p:cNvPr id="5" name="Rounded Rectangle 4"/>
          <p:cNvSpPr/>
          <p:nvPr/>
        </p:nvSpPr>
        <p:spPr>
          <a:xfrm>
            <a:off x="813816" y="676656"/>
            <a:ext cx="5074920" cy="310896"/>
          </a:xfrm>
          <a:prstGeom prst="roundRect">
            <a:avLst>
              <a:gd name="adj" fmla="val 50000"/>
            </a:avLst>
          </a:prstGeom>
          <a:solidFill>
            <a:srgbClr val="1C9C8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813816" y="740664"/>
            <a:ext cx="5074920" cy="182880"/>
          </a:xfrm>
          <a:prstGeom prst="rect">
            <a:avLst/>
          </a:prstGeom>
          <a:noFill/>
        </p:spPr>
        <p:txBody>
          <a:bodyPr wrap="square" lIns="0" tIns="0" rIns="0" bIns="0" anchor="t">
            <a:noAutofit/>
          </a:bodyPr>
          <a:lstStyle/>
          <a:p>
            <a:pPr algn="ctr"/>
            <a:r>
              <a:rPr sz="950" b="0" i="0" spc="110">
                <a:solidFill>
                  <a:srgbClr val="6FD9C8"/>
                </a:solidFill>
                <a:latin typeface="JetBrains Mono"/>
                <a:ea typeface="JetBrains Mono"/>
                <a:cs typeface="JetBrains Mono"/>
              </a:rPr>
              <a:t>TECHWIZ 7 · GENERATIVE AI POWERPLAY · VIVA ROUND</a:t>
            </a:r>
          </a:p>
        </p:txBody>
      </p:sp>
      <p:sp>
        <p:nvSpPr>
          <p:cNvPr id="7" name="TextBox 6"/>
          <p:cNvSpPr txBox="1"/>
          <p:nvPr/>
        </p:nvSpPr>
        <p:spPr>
          <a:xfrm>
            <a:off x="813816" y="1920240"/>
            <a:ext cx="5806440" cy="960120"/>
          </a:xfrm>
          <a:prstGeom prst="rect">
            <a:avLst/>
          </a:prstGeom>
          <a:noFill/>
        </p:spPr>
        <p:txBody>
          <a:bodyPr wrap="square" lIns="0" tIns="0" rIns="0" bIns="0" anchor="t">
            <a:noAutofit/>
          </a:bodyPr>
          <a:lstStyle/>
          <a:p>
            <a:pPr algn="l">
              <a:lnSpc>
                <a:spcPct val="125000"/>
              </a:lnSpc>
            </a:pPr>
            <a:r>
              <a:rPr sz="1850" b="0" i="0">
                <a:solidFill>
                  <a:srgbClr val="C7CCD8"/>
                </a:solidFill>
                <a:latin typeface="IBM Plex Sans"/>
                <a:ea typeface="IBM Plex Sans"/>
                <a:cs typeface="IBM Plex Sans"/>
              </a:rPr>
              <a:t>A dual-pipeline Generative AI system that verifies every onboarding plan it writes — before a human ever sees it.</a:t>
            </a:r>
          </a:p>
        </p:txBody>
      </p:sp>
      <p:sp>
        <p:nvSpPr>
          <p:cNvPr id="8" name="Rectangle 7"/>
          <p:cNvSpPr/>
          <p:nvPr/>
        </p:nvSpPr>
        <p:spPr>
          <a:xfrm>
            <a:off x="813816" y="3044952"/>
            <a:ext cx="5852160" cy="10972"/>
          </a:xfrm>
          <a:prstGeom prst="rect">
            <a:avLst/>
          </a:prstGeom>
          <a:solidFill>
            <a:srgbClr val="2A35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13816" y="3200400"/>
            <a:ext cx="4572000" cy="201168"/>
          </a:xfrm>
          <a:prstGeom prst="rect">
            <a:avLst/>
          </a:prstGeom>
          <a:noFill/>
        </p:spPr>
        <p:txBody>
          <a:bodyPr wrap="square" lIns="0" tIns="0" rIns="0" bIns="0" anchor="t">
            <a:noAutofit/>
          </a:bodyPr>
          <a:lstStyle/>
          <a:p>
            <a:pPr algn="l"/>
            <a:r>
              <a:rPr sz="1000" b="0" i="0" spc="120">
                <a:solidFill>
                  <a:srgbClr val="6FD9C8"/>
                </a:solidFill>
                <a:latin typeface="JetBrains Mono"/>
                <a:ea typeface="JetBrains Mono"/>
                <a:cs typeface="JetBrains Mono"/>
              </a:rPr>
              <a:t>TEAM FOURANGRYBIRDS</a:t>
            </a:r>
          </a:p>
        </p:txBody>
      </p:sp>
      <p:sp>
        <p:nvSpPr>
          <p:cNvPr id="10" name="Rounded Rectangle 9"/>
          <p:cNvSpPr/>
          <p:nvPr/>
        </p:nvSpPr>
        <p:spPr>
          <a:xfrm>
            <a:off x="813816" y="3511296"/>
            <a:ext cx="2834640" cy="749808"/>
          </a:xfrm>
          <a:prstGeom prst="roundRect">
            <a:avLst>
              <a:gd name="adj" fmla="val 11000"/>
            </a:avLst>
          </a:prstGeom>
          <a:solidFill>
            <a:srgbClr val="1A2137"/>
          </a:solidFill>
          <a:ln w="9525">
            <a:solidFill>
              <a:srgbClr val="2A355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978408" y="3639312"/>
            <a:ext cx="2523744" cy="256032"/>
          </a:xfrm>
          <a:prstGeom prst="rect">
            <a:avLst/>
          </a:prstGeom>
          <a:noFill/>
        </p:spPr>
        <p:txBody>
          <a:bodyPr wrap="square" lIns="0" tIns="0" rIns="0" bIns="0" anchor="t">
            <a:noAutofit/>
          </a:bodyPr>
          <a:lstStyle/>
          <a:p>
            <a:pPr algn="l"/>
            <a:r>
              <a:rPr sz="1400" b="1" i="0">
                <a:solidFill>
                  <a:srgbClr val="F3F4F1"/>
                </a:solidFill>
                <a:latin typeface="IBM Plex Sans"/>
                <a:ea typeface="IBM Plex Sans"/>
                <a:cs typeface="IBM Plex Sans"/>
              </a:rPr>
              <a:t>Chau Quoc Lam Phong</a:t>
            </a:r>
          </a:p>
        </p:txBody>
      </p:sp>
      <p:sp>
        <p:nvSpPr>
          <p:cNvPr id="12" name="TextBox 11"/>
          <p:cNvSpPr txBox="1"/>
          <p:nvPr/>
        </p:nvSpPr>
        <p:spPr>
          <a:xfrm>
            <a:off x="978408" y="3941063"/>
            <a:ext cx="2523744" cy="201168"/>
          </a:xfrm>
          <a:prstGeom prst="rect">
            <a:avLst/>
          </a:prstGeom>
          <a:noFill/>
        </p:spPr>
        <p:txBody>
          <a:bodyPr wrap="square" lIns="0" tIns="0" rIns="0" bIns="0" anchor="t">
            <a:noAutofit/>
          </a:bodyPr>
          <a:lstStyle/>
          <a:p>
            <a:pPr algn="l"/>
            <a:r>
              <a:rPr sz="1000" b="0" i="0" spc="60">
                <a:solidFill>
                  <a:srgbClr val="8D94A6"/>
                </a:solidFill>
                <a:latin typeface="JetBrains Mono"/>
                <a:ea typeface="JetBrains Mono"/>
                <a:cs typeface="JetBrains Mono"/>
              </a:rPr>
              <a:t>T3S2503004</a:t>
            </a:r>
          </a:p>
        </p:txBody>
      </p:sp>
      <p:sp>
        <p:nvSpPr>
          <p:cNvPr id="13" name="Rounded Rectangle 12"/>
          <p:cNvSpPr/>
          <p:nvPr/>
        </p:nvSpPr>
        <p:spPr>
          <a:xfrm>
            <a:off x="3831335" y="3511296"/>
            <a:ext cx="2834640" cy="749808"/>
          </a:xfrm>
          <a:prstGeom prst="roundRect">
            <a:avLst>
              <a:gd name="adj" fmla="val 11000"/>
            </a:avLst>
          </a:prstGeom>
          <a:solidFill>
            <a:srgbClr val="1A2137"/>
          </a:solidFill>
          <a:ln w="9525">
            <a:solidFill>
              <a:srgbClr val="2A355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3995927" y="3639312"/>
            <a:ext cx="2523744" cy="256032"/>
          </a:xfrm>
          <a:prstGeom prst="rect">
            <a:avLst/>
          </a:prstGeom>
          <a:noFill/>
        </p:spPr>
        <p:txBody>
          <a:bodyPr wrap="square" lIns="0" tIns="0" rIns="0" bIns="0" anchor="t">
            <a:noAutofit/>
          </a:bodyPr>
          <a:lstStyle/>
          <a:p>
            <a:pPr algn="l"/>
            <a:r>
              <a:rPr sz="1400" b="1" i="0">
                <a:solidFill>
                  <a:srgbClr val="F3F4F1"/>
                </a:solidFill>
                <a:latin typeface="IBM Plex Sans"/>
                <a:ea typeface="IBM Plex Sans"/>
                <a:cs typeface="IBM Plex Sans"/>
              </a:rPr>
              <a:t>Đoan Thi Quynh Nhi</a:t>
            </a:r>
          </a:p>
        </p:txBody>
      </p:sp>
      <p:sp>
        <p:nvSpPr>
          <p:cNvPr id="15" name="TextBox 14"/>
          <p:cNvSpPr txBox="1"/>
          <p:nvPr/>
        </p:nvSpPr>
        <p:spPr>
          <a:xfrm>
            <a:off x="3995927" y="3941063"/>
            <a:ext cx="2523744" cy="201168"/>
          </a:xfrm>
          <a:prstGeom prst="rect">
            <a:avLst/>
          </a:prstGeom>
          <a:noFill/>
        </p:spPr>
        <p:txBody>
          <a:bodyPr wrap="square" lIns="0" tIns="0" rIns="0" bIns="0" anchor="t">
            <a:noAutofit/>
          </a:bodyPr>
          <a:lstStyle/>
          <a:p>
            <a:pPr algn="l"/>
            <a:r>
              <a:rPr sz="1000" b="0" i="0" spc="60">
                <a:solidFill>
                  <a:srgbClr val="8D94A6"/>
                </a:solidFill>
                <a:latin typeface="JetBrains Mono"/>
                <a:ea typeface="JetBrains Mono"/>
                <a:cs typeface="JetBrains Mono"/>
              </a:rPr>
              <a:t>FTS00015</a:t>
            </a:r>
          </a:p>
        </p:txBody>
      </p:sp>
      <p:sp>
        <p:nvSpPr>
          <p:cNvPr id="16" name="Rounded Rectangle 15"/>
          <p:cNvSpPr/>
          <p:nvPr/>
        </p:nvSpPr>
        <p:spPr>
          <a:xfrm>
            <a:off x="813816" y="4352544"/>
            <a:ext cx="2834640" cy="749808"/>
          </a:xfrm>
          <a:prstGeom prst="roundRect">
            <a:avLst>
              <a:gd name="adj" fmla="val 11000"/>
            </a:avLst>
          </a:prstGeom>
          <a:solidFill>
            <a:srgbClr val="1A2137"/>
          </a:solidFill>
          <a:ln w="9525">
            <a:solidFill>
              <a:srgbClr val="2A355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78408" y="4480559"/>
            <a:ext cx="2523744" cy="256032"/>
          </a:xfrm>
          <a:prstGeom prst="rect">
            <a:avLst/>
          </a:prstGeom>
          <a:noFill/>
        </p:spPr>
        <p:txBody>
          <a:bodyPr wrap="square" lIns="0" tIns="0" rIns="0" bIns="0" anchor="t">
            <a:noAutofit/>
          </a:bodyPr>
          <a:lstStyle/>
          <a:p>
            <a:pPr algn="l"/>
            <a:r>
              <a:rPr sz="1400" b="1" i="0">
                <a:solidFill>
                  <a:srgbClr val="F3F4F1"/>
                </a:solidFill>
                <a:latin typeface="IBM Plex Sans"/>
                <a:ea typeface="IBM Plex Sans"/>
                <a:cs typeface="IBM Plex Sans"/>
              </a:rPr>
              <a:t>Pham Tan Tai</a:t>
            </a:r>
          </a:p>
        </p:txBody>
      </p:sp>
      <p:sp>
        <p:nvSpPr>
          <p:cNvPr id="18" name="TextBox 17"/>
          <p:cNvSpPr txBox="1"/>
          <p:nvPr/>
        </p:nvSpPr>
        <p:spPr>
          <a:xfrm>
            <a:off x="978408" y="4782312"/>
            <a:ext cx="2523744" cy="201168"/>
          </a:xfrm>
          <a:prstGeom prst="rect">
            <a:avLst/>
          </a:prstGeom>
          <a:noFill/>
        </p:spPr>
        <p:txBody>
          <a:bodyPr wrap="square" lIns="0" tIns="0" rIns="0" bIns="0" anchor="t">
            <a:noAutofit/>
          </a:bodyPr>
          <a:lstStyle/>
          <a:p>
            <a:pPr algn="l"/>
            <a:r>
              <a:rPr sz="1000" b="0" i="0" spc="60">
                <a:solidFill>
                  <a:srgbClr val="8D94A6"/>
                </a:solidFill>
                <a:latin typeface="JetBrains Mono"/>
                <a:ea typeface="JetBrains Mono"/>
                <a:cs typeface="JetBrains Mono"/>
              </a:rPr>
              <a:t>FTS00019</a:t>
            </a:r>
          </a:p>
        </p:txBody>
      </p:sp>
      <p:sp>
        <p:nvSpPr>
          <p:cNvPr id="19" name="Rounded Rectangle 18"/>
          <p:cNvSpPr/>
          <p:nvPr/>
        </p:nvSpPr>
        <p:spPr>
          <a:xfrm>
            <a:off x="3831335" y="4352544"/>
            <a:ext cx="2834640" cy="749808"/>
          </a:xfrm>
          <a:prstGeom prst="roundRect">
            <a:avLst>
              <a:gd name="adj" fmla="val 11000"/>
            </a:avLst>
          </a:prstGeom>
          <a:solidFill>
            <a:srgbClr val="1A2137"/>
          </a:solidFill>
          <a:ln w="9525">
            <a:solidFill>
              <a:srgbClr val="2A355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3995927" y="4480559"/>
            <a:ext cx="2523744" cy="256032"/>
          </a:xfrm>
          <a:prstGeom prst="rect">
            <a:avLst/>
          </a:prstGeom>
          <a:noFill/>
        </p:spPr>
        <p:txBody>
          <a:bodyPr wrap="square" lIns="0" tIns="0" rIns="0" bIns="0" anchor="t">
            <a:noAutofit/>
          </a:bodyPr>
          <a:lstStyle/>
          <a:p>
            <a:pPr algn="l"/>
            <a:r>
              <a:rPr sz="1400" b="1" i="0">
                <a:solidFill>
                  <a:srgbClr val="F3F4F1"/>
                </a:solidFill>
                <a:latin typeface="IBM Plex Sans"/>
                <a:ea typeface="IBM Plex Sans"/>
                <a:cs typeface="IBM Plex Sans"/>
              </a:rPr>
              <a:t>Le Thi Kieu Duyen</a:t>
            </a:r>
          </a:p>
        </p:txBody>
      </p:sp>
      <p:sp>
        <p:nvSpPr>
          <p:cNvPr id="21" name="TextBox 20"/>
          <p:cNvSpPr txBox="1"/>
          <p:nvPr/>
        </p:nvSpPr>
        <p:spPr>
          <a:xfrm>
            <a:off x="3995927" y="4782312"/>
            <a:ext cx="2523744" cy="201168"/>
          </a:xfrm>
          <a:prstGeom prst="rect">
            <a:avLst/>
          </a:prstGeom>
          <a:noFill/>
        </p:spPr>
        <p:txBody>
          <a:bodyPr wrap="square" lIns="0" tIns="0" rIns="0" bIns="0" anchor="t">
            <a:noAutofit/>
          </a:bodyPr>
          <a:lstStyle/>
          <a:p>
            <a:pPr algn="l"/>
            <a:r>
              <a:rPr sz="1000" b="0" i="0" spc="60">
                <a:solidFill>
                  <a:srgbClr val="8D94A6"/>
                </a:solidFill>
                <a:latin typeface="JetBrains Mono"/>
                <a:ea typeface="JetBrains Mono"/>
                <a:cs typeface="JetBrains Mono"/>
              </a:rPr>
              <a:t>T3S2502004</a:t>
            </a:r>
          </a:p>
        </p:txBody>
      </p:sp>
      <p:sp>
        <p:nvSpPr>
          <p:cNvPr id="22" name="TextBox 21"/>
          <p:cNvSpPr txBox="1"/>
          <p:nvPr/>
        </p:nvSpPr>
        <p:spPr>
          <a:xfrm>
            <a:off x="813816" y="5541264"/>
            <a:ext cx="6126480" cy="219456"/>
          </a:xfrm>
          <a:prstGeom prst="rect">
            <a:avLst/>
          </a:prstGeom>
          <a:noFill/>
        </p:spPr>
        <p:txBody>
          <a:bodyPr wrap="square" lIns="0" tIns="0" rIns="0" bIns="0" anchor="t">
            <a:noAutofit/>
          </a:bodyPr>
          <a:lstStyle/>
          <a:p>
            <a:pPr algn="l"/>
            <a:r>
              <a:rPr sz="1200" b="0" i="0">
                <a:solidFill>
                  <a:srgbClr val="8D94A6"/>
                </a:solidFill>
                <a:latin typeface="IBM Plex Sans"/>
                <a:ea typeface="IBM Plex Sans"/>
                <a:cs typeface="IBM Plex Sans"/>
              </a:rPr>
              <a:t>FPT Aptech HCMC · Vietnam · Supervisor: Mr. Tran Phuoc Sinh</a:t>
            </a:r>
          </a:p>
        </p:txBody>
      </p:sp>
      <p:sp>
        <p:nvSpPr>
          <p:cNvPr id="23" name="TextBox 22"/>
          <p:cNvSpPr txBox="1"/>
          <p:nvPr/>
        </p:nvSpPr>
        <p:spPr>
          <a:xfrm>
            <a:off x="813816" y="5852160"/>
            <a:ext cx="4754880" cy="219456"/>
          </a:xfrm>
          <a:prstGeom prst="rect">
            <a:avLst/>
          </a:prstGeom>
          <a:noFill/>
        </p:spPr>
        <p:txBody>
          <a:bodyPr wrap="square" lIns="0" tIns="0" rIns="0" bIns="0" anchor="t">
            <a:noAutofit/>
          </a:bodyPr>
          <a:lstStyle/>
          <a:p>
            <a:pPr algn="l"/>
            <a:r>
              <a:rPr sz="1200" b="0" i="0" spc="40">
                <a:solidFill>
                  <a:srgbClr val="6FD9C8"/>
                </a:solidFill>
                <a:latin typeface="JetBrains Mono"/>
                <a:ea typeface="JetBrains Mono"/>
                <a:cs typeface="JetBrains Mono"/>
              </a:rPr>
              <a:t>Verified, not just generated.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731520"/>
            <a:ext cx="9601200" cy="420624"/>
          </a:xfrm>
        </p:spPr>
        <p:txBody>
          <a:bodyPr wrap="square" lIns="0" tIns="0" rIns="0" bIns="0" anchor="t">
            <a:noAutofit/>
          </a:bodyPr>
          <a:lstStyle/>
          <a:p>
            <a:pPr algn="l">
              <a:lnSpc>
                <a:spcPct val="100000"/>
              </a:lnSpc>
            </a:pPr>
            <a:r>
              <a:rPr sz="3000" b="1">
                <a:solidFill>
                  <a:srgbClr val="141A2B"/>
                </a:solidFill>
                <a:latin typeface="IBM Plex Sans"/>
                <a:ea typeface="IBM Plex Sans"/>
                <a:cs typeface="IBM Plex Sans"/>
              </a:rPr>
              <a:t>Stack, Architecture, Workflow</a:t>
            </a:r>
          </a:p>
        </p:txBody>
      </p:sp>
      <p:sp>
        <p:nvSpPr>
          <p:cNvPr id="3" name="TextBox 2"/>
          <p:cNvSpPr txBox="1"/>
          <p:nvPr/>
        </p:nvSpPr>
        <p:spPr>
          <a:xfrm>
            <a:off x="813816" y="475488"/>
            <a:ext cx="7315200" cy="201168"/>
          </a:xfrm>
          <a:prstGeom prst="rect">
            <a:avLst/>
          </a:prstGeom>
          <a:noFill/>
        </p:spPr>
        <p:txBody>
          <a:bodyPr wrap="square" lIns="0" tIns="0" rIns="0" bIns="0" anchor="t">
            <a:noAutofit/>
          </a:bodyPr>
          <a:lstStyle/>
          <a:p>
            <a:pPr algn="l"/>
            <a:r>
              <a:rPr sz="1000" b="0" i="0" spc="120">
                <a:solidFill>
                  <a:srgbClr val="1C9C8A"/>
                </a:solidFill>
                <a:latin typeface="JetBrains Mono"/>
                <a:ea typeface="JetBrains Mono"/>
                <a:cs typeface="JetBrains Mono"/>
              </a:rPr>
              <a:t>SYSTEM AT A GLANCE</a:t>
            </a:r>
          </a:p>
        </p:txBody>
      </p:sp>
      <p:sp>
        <p:nvSpPr>
          <p:cNvPr id="4" name="TextBox 3"/>
          <p:cNvSpPr txBox="1"/>
          <p:nvPr/>
        </p:nvSpPr>
        <p:spPr>
          <a:xfrm>
            <a:off x="813816" y="1225296"/>
            <a:ext cx="10424160" cy="219456"/>
          </a:xfrm>
          <a:prstGeom prst="rect">
            <a:avLst/>
          </a:prstGeom>
          <a:noFill/>
        </p:spPr>
        <p:txBody>
          <a:bodyPr wrap="square" lIns="0" tIns="0" rIns="0" bIns="0" anchor="t">
            <a:noAutofit/>
          </a:bodyPr>
          <a:lstStyle/>
          <a:p>
            <a:pPr algn="l"/>
            <a:r>
              <a:rPr sz="1200" b="0" i="0">
                <a:solidFill>
                  <a:srgbClr val="4A5568"/>
                </a:solidFill>
                <a:latin typeface="IBM Plex Sans"/>
                <a:ea typeface="IBM Plex Sans"/>
                <a:cs typeface="IBM Plex Sans"/>
              </a:rPr>
              <a:t>What we built with, how the two pipelines connect, and the eight steps from raw documents to a verified plan.</a:t>
            </a:r>
          </a:p>
        </p:txBody>
      </p:sp>
      <p:sp>
        <p:nvSpPr>
          <p:cNvPr id="5" name="TextBox 4"/>
          <p:cNvSpPr txBox="1"/>
          <p:nvPr/>
        </p:nvSpPr>
        <p:spPr>
          <a:xfrm>
            <a:off x="813816" y="1554480"/>
            <a:ext cx="4572000" cy="182880"/>
          </a:xfrm>
          <a:prstGeom prst="rect">
            <a:avLst/>
          </a:prstGeom>
          <a:noFill/>
        </p:spPr>
        <p:txBody>
          <a:bodyPr wrap="square" lIns="0" tIns="0" rIns="0" bIns="0" anchor="t">
            <a:noAutofit/>
          </a:bodyPr>
          <a:lstStyle/>
          <a:p>
            <a:pPr algn="l"/>
            <a:r>
              <a:rPr sz="900" b="0" i="0" spc="110">
                <a:solidFill>
                  <a:srgbClr val="1C9C8A"/>
                </a:solidFill>
                <a:latin typeface="JetBrains Mono"/>
                <a:ea typeface="JetBrains Mono"/>
                <a:cs typeface="JetBrains Mono"/>
              </a:rPr>
              <a:t>CORE SOFTWARE</a:t>
            </a:r>
          </a:p>
        </p:txBody>
      </p:sp>
      <p:sp>
        <p:nvSpPr>
          <p:cNvPr id="6" name="Rounded Rectangle 5"/>
          <p:cNvSpPr/>
          <p:nvPr/>
        </p:nvSpPr>
        <p:spPr>
          <a:xfrm>
            <a:off x="813816" y="1755648"/>
            <a:ext cx="1668780" cy="621792"/>
          </a:xfrm>
          <a:prstGeom prst="roundRect">
            <a:avLst>
              <a:gd name="adj" fmla="val 9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941832" y="1828800"/>
            <a:ext cx="1449324" cy="164592"/>
          </a:xfrm>
          <a:prstGeom prst="rect">
            <a:avLst/>
          </a:prstGeom>
          <a:noFill/>
        </p:spPr>
        <p:txBody>
          <a:bodyPr wrap="square" lIns="0" tIns="0" rIns="0" bIns="0" anchor="t">
            <a:noAutofit/>
          </a:bodyPr>
          <a:lstStyle/>
          <a:p>
            <a:pPr algn="l"/>
            <a:r>
              <a:rPr sz="800" b="0" i="0" spc="80">
                <a:solidFill>
                  <a:srgbClr val="1C9C8A"/>
                </a:solidFill>
                <a:latin typeface="JetBrains Mono"/>
                <a:ea typeface="JetBrains Mono"/>
                <a:cs typeface="JetBrains Mono"/>
              </a:rPr>
              <a:t>BACKEND</a:t>
            </a:r>
          </a:p>
        </p:txBody>
      </p:sp>
      <p:sp>
        <p:nvSpPr>
          <p:cNvPr id="8" name="TextBox 7"/>
          <p:cNvSpPr txBox="1"/>
          <p:nvPr/>
        </p:nvSpPr>
        <p:spPr>
          <a:xfrm>
            <a:off x="941832" y="2029968"/>
            <a:ext cx="1467612" cy="237744"/>
          </a:xfrm>
          <a:prstGeom prst="rect">
            <a:avLst/>
          </a:prstGeom>
          <a:noFill/>
        </p:spPr>
        <p:txBody>
          <a:bodyPr wrap="square" lIns="0" tIns="0" rIns="0" bIns="0" anchor="t">
            <a:noAutofit/>
          </a:bodyPr>
          <a:lstStyle/>
          <a:p>
            <a:pPr algn="l"/>
            <a:r>
              <a:rPr sz="1150" b="1" i="0">
                <a:solidFill>
                  <a:srgbClr val="141A2B"/>
                </a:solidFill>
                <a:latin typeface="IBM Plex Sans"/>
                <a:ea typeface="IBM Plex Sans"/>
                <a:cs typeface="IBM Plex Sans"/>
              </a:rPr>
              <a:t>FastAPI</a:t>
            </a:r>
          </a:p>
        </p:txBody>
      </p:sp>
      <p:sp>
        <p:nvSpPr>
          <p:cNvPr id="9" name="Rounded Rectangle 8"/>
          <p:cNvSpPr/>
          <p:nvPr/>
        </p:nvSpPr>
        <p:spPr>
          <a:xfrm>
            <a:off x="2592324" y="1755648"/>
            <a:ext cx="1668780" cy="621792"/>
          </a:xfrm>
          <a:prstGeom prst="roundRect">
            <a:avLst>
              <a:gd name="adj" fmla="val 9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2720340" y="1828800"/>
            <a:ext cx="1449324" cy="164592"/>
          </a:xfrm>
          <a:prstGeom prst="rect">
            <a:avLst/>
          </a:prstGeom>
          <a:noFill/>
        </p:spPr>
        <p:txBody>
          <a:bodyPr wrap="square" lIns="0" tIns="0" rIns="0" bIns="0" anchor="t">
            <a:noAutofit/>
          </a:bodyPr>
          <a:lstStyle/>
          <a:p>
            <a:pPr algn="l"/>
            <a:r>
              <a:rPr sz="800" b="0" i="0" spc="80">
                <a:solidFill>
                  <a:srgbClr val="1C9C8A"/>
                </a:solidFill>
                <a:latin typeface="JetBrains Mono"/>
                <a:ea typeface="JetBrains Mono"/>
                <a:cs typeface="JetBrains Mono"/>
              </a:rPr>
              <a:t>FRONTEND</a:t>
            </a:r>
          </a:p>
        </p:txBody>
      </p:sp>
      <p:sp>
        <p:nvSpPr>
          <p:cNvPr id="11" name="TextBox 10"/>
          <p:cNvSpPr txBox="1"/>
          <p:nvPr/>
        </p:nvSpPr>
        <p:spPr>
          <a:xfrm>
            <a:off x="2720340" y="2029968"/>
            <a:ext cx="1467612" cy="237744"/>
          </a:xfrm>
          <a:prstGeom prst="rect">
            <a:avLst/>
          </a:prstGeom>
          <a:noFill/>
        </p:spPr>
        <p:txBody>
          <a:bodyPr wrap="square" lIns="0" tIns="0" rIns="0" bIns="0" anchor="t">
            <a:noAutofit/>
          </a:bodyPr>
          <a:lstStyle/>
          <a:p>
            <a:pPr algn="l"/>
            <a:r>
              <a:rPr sz="1150" b="1" i="0">
                <a:solidFill>
                  <a:srgbClr val="141A2B"/>
                </a:solidFill>
                <a:latin typeface="IBM Plex Sans"/>
                <a:ea typeface="IBM Plex Sans"/>
                <a:cs typeface="IBM Plex Sans"/>
              </a:rPr>
              <a:t>ReactJS · Vite</a:t>
            </a:r>
          </a:p>
        </p:txBody>
      </p:sp>
      <p:sp>
        <p:nvSpPr>
          <p:cNvPr id="12" name="Rounded Rectangle 11"/>
          <p:cNvSpPr/>
          <p:nvPr/>
        </p:nvSpPr>
        <p:spPr>
          <a:xfrm>
            <a:off x="4370831" y="1755648"/>
            <a:ext cx="1668780" cy="621792"/>
          </a:xfrm>
          <a:prstGeom prst="roundRect">
            <a:avLst>
              <a:gd name="adj" fmla="val 9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4498847" y="1828800"/>
            <a:ext cx="1449324" cy="164592"/>
          </a:xfrm>
          <a:prstGeom prst="rect">
            <a:avLst/>
          </a:prstGeom>
          <a:noFill/>
        </p:spPr>
        <p:txBody>
          <a:bodyPr wrap="square" lIns="0" tIns="0" rIns="0" bIns="0" anchor="t">
            <a:noAutofit/>
          </a:bodyPr>
          <a:lstStyle/>
          <a:p>
            <a:pPr algn="l"/>
            <a:r>
              <a:rPr sz="800" b="0" i="0" spc="80">
                <a:solidFill>
                  <a:srgbClr val="1C9C8A"/>
                </a:solidFill>
                <a:latin typeface="JetBrains Mono"/>
                <a:ea typeface="JetBrains Mono"/>
                <a:cs typeface="JetBrains Mono"/>
              </a:rPr>
              <a:t>GEN AI API</a:t>
            </a:r>
          </a:p>
        </p:txBody>
      </p:sp>
      <p:sp>
        <p:nvSpPr>
          <p:cNvPr id="14" name="TextBox 13"/>
          <p:cNvSpPr txBox="1"/>
          <p:nvPr/>
        </p:nvSpPr>
        <p:spPr>
          <a:xfrm>
            <a:off x="4498847" y="2029968"/>
            <a:ext cx="1467612" cy="237744"/>
          </a:xfrm>
          <a:prstGeom prst="rect">
            <a:avLst/>
          </a:prstGeom>
          <a:noFill/>
        </p:spPr>
        <p:txBody>
          <a:bodyPr wrap="square" lIns="0" tIns="0" rIns="0" bIns="0" anchor="t">
            <a:noAutofit/>
          </a:bodyPr>
          <a:lstStyle/>
          <a:p>
            <a:pPr algn="l"/>
            <a:r>
              <a:rPr sz="1150" b="1" i="0">
                <a:solidFill>
                  <a:srgbClr val="141A2B"/>
                </a:solidFill>
                <a:latin typeface="IBM Plex Sans"/>
                <a:ea typeface="IBM Plex Sans"/>
                <a:cs typeface="IBM Plex Sans"/>
              </a:rPr>
              <a:t>Gemini API</a:t>
            </a:r>
          </a:p>
        </p:txBody>
      </p:sp>
      <p:sp>
        <p:nvSpPr>
          <p:cNvPr id="15" name="Rounded Rectangle 14"/>
          <p:cNvSpPr/>
          <p:nvPr/>
        </p:nvSpPr>
        <p:spPr>
          <a:xfrm>
            <a:off x="6149339" y="1755648"/>
            <a:ext cx="1668780" cy="621792"/>
          </a:xfrm>
          <a:prstGeom prst="roundRect">
            <a:avLst>
              <a:gd name="adj" fmla="val 9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6277355" y="1828800"/>
            <a:ext cx="1449324" cy="164592"/>
          </a:xfrm>
          <a:prstGeom prst="rect">
            <a:avLst/>
          </a:prstGeom>
          <a:noFill/>
        </p:spPr>
        <p:txBody>
          <a:bodyPr wrap="square" lIns="0" tIns="0" rIns="0" bIns="0" anchor="t">
            <a:noAutofit/>
          </a:bodyPr>
          <a:lstStyle/>
          <a:p>
            <a:pPr algn="l"/>
            <a:r>
              <a:rPr sz="800" b="0" i="0" spc="80">
                <a:solidFill>
                  <a:srgbClr val="1C9C8A"/>
                </a:solidFill>
                <a:latin typeface="JetBrains Mono"/>
                <a:ea typeface="JetBrains Mono"/>
                <a:cs typeface="JetBrains Mono"/>
              </a:rPr>
              <a:t>DATABASE</a:t>
            </a:r>
          </a:p>
        </p:txBody>
      </p:sp>
      <p:sp>
        <p:nvSpPr>
          <p:cNvPr id="17" name="TextBox 16"/>
          <p:cNvSpPr txBox="1"/>
          <p:nvPr/>
        </p:nvSpPr>
        <p:spPr>
          <a:xfrm>
            <a:off x="6277355" y="2029968"/>
            <a:ext cx="1467612" cy="237744"/>
          </a:xfrm>
          <a:prstGeom prst="rect">
            <a:avLst/>
          </a:prstGeom>
          <a:noFill/>
        </p:spPr>
        <p:txBody>
          <a:bodyPr wrap="square" lIns="0" tIns="0" rIns="0" bIns="0" anchor="t">
            <a:noAutofit/>
          </a:bodyPr>
          <a:lstStyle/>
          <a:p>
            <a:pPr algn="l"/>
            <a:r>
              <a:rPr sz="1150" b="1" i="0">
                <a:solidFill>
                  <a:srgbClr val="141A2B"/>
                </a:solidFill>
                <a:latin typeface="IBM Plex Sans"/>
                <a:ea typeface="IBM Plex Sans"/>
                <a:cs typeface="IBM Plex Sans"/>
              </a:rPr>
              <a:t>PostgreSQL</a:t>
            </a:r>
          </a:p>
        </p:txBody>
      </p:sp>
      <p:sp>
        <p:nvSpPr>
          <p:cNvPr id="18" name="Rounded Rectangle 17"/>
          <p:cNvSpPr/>
          <p:nvPr/>
        </p:nvSpPr>
        <p:spPr>
          <a:xfrm>
            <a:off x="7927848" y="1755648"/>
            <a:ext cx="1668780" cy="621792"/>
          </a:xfrm>
          <a:prstGeom prst="roundRect">
            <a:avLst>
              <a:gd name="adj" fmla="val 9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8055864" y="1828800"/>
            <a:ext cx="1449324" cy="164592"/>
          </a:xfrm>
          <a:prstGeom prst="rect">
            <a:avLst/>
          </a:prstGeom>
          <a:noFill/>
        </p:spPr>
        <p:txBody>
          <a:bodyPr wrap="square" lIns="0" tIns="0" rIns="0" bIns="0" anchor="t">
            <a:noAutofit/>
          </a:bodyPr>
          <a:lstStyle/>
          <a:p>
            <a:pPr algn="l"/>
            <a:r>
              <a:rPr sz="800" b="0" i="0" spc="80">
                <a:solidFill>
                  <a:srgbClr val="1C9C8A"/>
                </a:solidFill>
                <a:latin typeface="JetBrains Mono"/>
                <a:ea typeface="JetBrains Mono"/>
                <a:cs typeface="JetBrains Mono"/>
              </a:rPr>
              <a:t>LANGUAGES</a:t>
            </a:r>
          </a:p>
        </p:txBody>
      </p:sp>
      <p:sp>
        <p:nvSpPr>
          <p:cNvPr id="20" name="TextBox 19"/>
          <p:cNvSpPr txBox="1"/>
          <p:nvPr/>
        </p:nvSpPr>
        <p:spPr>
          <a:xfrm>
            <a:off x="8055864" y="2029968"/>
            <a:ext cx="1467612" cy="237744"/>
          </a:xfrm>
          <a:prstGeom prst="rect">
            <a:avLst/>
          </a:prstGeom>
          <a:noFill/>
        </p:spPr>
        <p:txBody>
          <a:bodyPr wrap="square" lIns="0" tIns="0" rIns="0" bIns="0" anchor="t">
            <a:noAutofit/>
          </a:bodyPr>
          <a:lstStyle/>
          <a:p>
            <a:pPr algn="l"/>
            <a:r>
              <a:rPr sz="1150" b="1" i="0">
                <a:solidFill>
                  <a:srgbClr val="141A2B"/>
                </a:solidFill>
                <a:latin typeface="IBM Plex Sans"/>
                <a:ea typeface="IBM Plex Sans"/>
                <a:cs typeface="IBM Plex Sans"/>
              </a:rPr>
              <a:t>Python · JS/JSX</a:t>
            </a:r>
          </a:p>
        </p:txBody>
      </p:sp>
      <p:sp>
        <p:nvSpPr>
          <p:cNvPr id="21" name="Rounded Rectangle 20"/>
          <p:cNvSpPr/>
          <p:nvPr/>
        </p:nvSpPr>
        <p:spPr>
          <a:xfrm>
            <a:off x="9706356" y="1755648"/>
            <a:ext cx="1668780" cy="621792"/>
          </a:xfrm>
          <a:prstGeom prst="roundRect">
            <a:avLst>
              <a:gd name="adj" fmla="val 9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9834372" y="1828800"/>
            <a:ext cx="1449324" cy="164592"/>
          </a:xfrm>
          <a:prstGeom prst="rect">
            <a:avLst/>
          </a:prstGeom>
          <a:noFill/>
        </p:spPr>
        <p:txBody>
          <a:bodyPr wrap="square" lIns="0" tIns="0" rIns="0" bIns="0" anchor="t">
            <a:noAutofit/>
          </a:bodyPr>
          <a:lstStyle/>
          <a:p>
            <a:pPr algn="l"/>
            <a:r>
              <a:rPr sz="800" b="0" i="0" spc="80">
                <a:solidFill>
                  <a:srgbClr val="1C9C8A"/>
                </a:solidFill>
                <a:latin typeface="JetBrains Mono"/>
                <a:ea typeface="JetBrains Mono"/>
                <a:cs typeface="JetBrains Mono"/>
              </a:rPr>
              <a:t>TOOLING</a:t>
            </a:r>
          </a:p>
        </p:txBody>
      </p:sp>
      <p:sp>
        <p:nvSpPr>
          <p:cNvPr id="23" name="TextBox 22"/>
          <p:cNvSpPr txBox="1"/>
          <p:nvPr/>
        </p:nvSpPr>
        <p:spPr>
          <a:xfrm>
            <a:off x="9834372" y="2029968"/>
            <a:ext cx="1467612" cy="237744"/>
          </a:xfrm>
          <a:prstGeom prst="rect">
            <a:avLst/>
          </a:prstGeom>
          <a:noFill/>
        </p:spPr>
        <p:txBody>
          <a:bodyPr wrap="square" lIns="0" tIns="0" rIns="0" bIns="0" anchor="t">
            <a:noAutofit/>
          </a:bodyPr>
          <a:lstStyle/>
          <a:p>
            <a:pPr algn="l"/>
            <a:r>
              <a:rPr sz="1150" b="1" i="0">
                <a:solidFill>
                  <a:srgbClr val="141A2B"/>
                </a:solidFill>
                <a:latin typeface="IBM Plex Sans"/>
                <a:ea typeface="IBM Plex Sans"/>
                <a:cs typeface="IBM Plex Sans"/>
              </a:rPr>
              <a:t>Git · VS Code</a:t>
            </a:r>
          </a:p>
        </p:txBody>
      </p:sp>
      <p:sp>
        <p:nvSpPr>
          <p:cNvPr id="24" name="TextBox 23"/>
          <p:cNvSpPr txBox="1"/>
          <p:nvPr/>
        </p:nvSpPr>
        <p:spPr>
          <a:xfrm>
            <a:off x="813816" y="2596896"/>
            <a:ext cx="5486400" cy="182880"/>
          </a:xfrm>
          <a:prstGeom prst="rect">
            <a:avLst/>
          </a:prstGeom>
          <a:noFill/>
        </p:spPr>
        <p:txBody>
          <a:bodyPr wrap="square" lIns="0" tIns="0" rIns="0" bIns="0" anchor="t">
            <a:noAutofit/>
          </a:bodyPr>
          <a:lstStyle/>
          <a:p>
            <a:pPr algn="l"/>
            <a:r>
              <a:rPr sz="900" b="0" i="0" spc="110">
                <a:solidFill>
                  <a:srgbClr val="1C9C8A"/>
                </a:solidFill>
                <a:latin typeface="JetBrains Mono"/>
                <a:ea typeface="JetBrains Mono"/>
                <a:cs typeface="JetBrains Mono"/>
              </a:rPr>
              <a:t>ARCHITECTURE · TWO PIPELINES, ONE GATE</a:t>
            </a:r>
          </a:p>
        </p:txBody>
      </p:sp>
      <p:sp>
        <p:nvSpPr>
          <p:cNvPr id="25" name="Rounded Rectangle 24"/>
          <p:cNvSpPr/>
          <p:nvPr/>
        </p:nvSpPr>
        <p:spPr>
          <a:xfrm>
            <a:off x="813816" y="2798064"/>
            <a:ext cx="2606040" cy="1298448"/>
          </a:xfrm>
          <a:prstGeom prst="roundRect">
            <a:avLst>
              <a:gd name="adj" fmla="val 7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25"/>
          <p:cNvSpPr txBox="1"/>
          <p:nvPr/>
        </p:nvSpPr>
        <p:spPr>
          <a:xfrm>
            <a:off x="960120" y="2944368"/>
            <a:ext cx="2313432" cy="1005839"/>
          </a:xfrm>
          <a:prstGeom prst="rect">
            <a:avLst/>
          </a:prstGeom>
          <a:noFill/>
        </p:spPr>
        <p:txBody>
          <a:bodyPr wrap="square" lIns="0" tIns="0" rIns="0" bIns="0" anchor="ctr">
            <a:noAutofit/>
          </a:bodyPr>
          <a:lstStyle/>
          <a:p>
            <a:pPr algn="l">
              <a:lnSpc>
                <a:spcPct val="120000"/>
              </a:lnSpc>
            </a:pPr>
            <a:r>
              <a:rPr sz="1350" b="1" i="0">
                <a:solidFill>
                  <a:srgbClr val="141A2B"/>
                </a:solidFill>
                <a:latin typeface="IBM Plex Sans"/>
                <a:ea typeface="IBM Plex Sans"/>
                <a:cs typeface="IBM Plex Sans"/>
              </a:rPr>
              <a:t>Documents &amp; Role Matrix</a:t>
            </a:r>
          </a:p>
          <a:p>
            <a:pPr algn="l">
              <a:lnSpc>
                <a:spcPct val="120000"/>
              </a:lnSpc>
              <a:spcBef>
                <a:spcPts val="500"/>
              </a:spcBef>
            </a:pPr>
            <a:r>
              <a:rPr sz="1050" b="0" i="0">
                <a:solidFill>
                  <a:srgbClr val="4A5568"/>
                </a:solidFill>
                <a:latin typeface="IBM Plex Sans"/>
                <a:ea typeface="IBM Plex Sans"/>
                <a:cs typeface="IBM Plex Sans"/>
              </a:rPr>
              <a:t>28 documents · 10 roles · 203 requirements</a:t>
            </a:r>
          </a:p>
        </p:txBody>
      </p:sp>
      <p:pic>
        <p:nvPicPr>
          <p:cNvPr id="27" name="Picture 26" descr="image5.png"/>
          <p:cNvPicPr>
            <a:picLocks noChangeAspect="1"/>
          </p:cNvPicPr>
          <p:nvPr/>
        </p:nvPicPr>
        <p:blipFill>
          <a:blip r:embed="rId3"/>
          <a:stretch>
            <a:fillRect/>
          </a:stretch>
        </p:blipFill>
        <p:spPr>
          <a:xfrm>
            <a:off x="3474720" y="3364992"/>
            <a:ext cx="310896" cy="155448"/>
          </a:xfrm>
          <a:prstGeom prst="rect">
            <a:avLst/>
          </a:prstGeom>
        </p:spPr>
      </p:pic>
      <p:sp>
        <p:nvSpPr>
          <p:cNvPr id="28" name="Rounded Rectangle 27"/>
          <p:cNvSpPr/>
          <p:nvPr/>
        </p:nvSpPr>
        <p:spPr>
          <a:xfrm>
            <a:off x="3840480" y="2798064"/>
            <a:ext cx="2788920" cy="566928"/>
          </a:xfrm>
          <a:prstGeom prst="roundRect">
            <a:avLst>
              <a:gd name="adj" fmla="val 13000"/>
            </a:avLst>
          </a:prstGeom>
          <a:solidFill>
            <a:srgbClr val="D9F0EC"/>
          </a:solidFill>
          <a:ln w="9525">
            <a:solidFill>
              <a:srgbClr val="9ED9C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28"/>
          <p:cNvSpPr txBox="1"/>
          <p:nvPr/>
        </p:nvSpPr>
        <p:spPr>
          <a:xfrm>
            <a:off x="3968496" y="2862072"/>
            <a:ext cx="2514600" cy="146304"/>
          </a:xfrm>
          <a:prstGeom prst="rect">
            <a:avLst/>
          </a:prstGeom>
          <a:noFill/>
        </p:spPr>
        <p:txBody>
          <a:bodyPr wrap="square" lIns="0" tIns="0" rIns="0" bIns="0" anchor="t">
            <a:noAutofit/>
          </a:bodyPr>
          <a:lstStyle/>
          <a:p>
            <a:pPr algn="l"/>
            <a:r>
              <a:rPr sz="800" b="0" i="0" spc="90">
                <a:solidFill>
                  <a:srgbClr val="0F6358"/>
                </a:solidFill>
                <a:latin typeface="JetBrains Mono"/>
                <a:ea typeface="JetBrains Mono"/>
                <a:cs typeface="JetBrains Mono"/>
              </a:rPr>
              <a:t>PIPELINE 1</a:t>
            </a:r>
          </a:p>
        </p:txBody>
      </p:sp>
      <p:sp>
        <p:nvSpPr>
          <p:cNvPr id="30" name="TextBox 29"/>
          <p:cNvSpPr txBox="1"/>
          <p:nvPr/>
        </p:nvSpPr>
        <p:spPr>
          <a:xfrm>
            <a:off x="3968496" y="3035808"/>
            <a:ext cx="2542032" cy="237744"/>
          </a:xfrm>
          <a:prstGeom prst="rect">
            <a:avLst/>
          </a:prstGeom>
          <a:noFill/>
        </p:spPr>
        <p:txBody>
          <a:bodyPr wrap="square" lIns="0" tIns="0" rIns="0" bIns="0" anchor="t">
            <a:noAutofit/>
          </a:bodyPr>
          <a:lstStyle/>
          <a:p>
            <a:pPr algn="l"/>
            <a:r>
              <a:rPr sz="1150" b="1" i="0">
                <a:solidFill>
                  <a:srgbClr val="0F6358"/>
                </a:solidFill>
                <a:latin typeface="IBM Plex Sans"/>
                <a:ea typeface="IBM Plex Sans"/>
                <a:cs typeface="IBM Plex Sans"/>
              </a:rPr>
              <a:t>Gemini writes the plan</a:t>
            </a:r>
          </a:p>
        </p:txBody>
      </p:sp>
      <p:sp>
        <p:nvSpPr>
          <p:cNvPr id="31" name="Rounded Rectangle 30"/>
          <p:cNvSpPr/>
          <p:nvPr/>
        </p:nvSpPr>
        <p:spPr>
          <a:xfrm>
            <a:off x="3840480" y="3529584"/>
            <a:ext cx="2788920" cy="566928"/>
          </a:xfrm>
          <a:prstGeom prst="roundRect">
            <a:avLst>
              <a:gd name="adj" fmla="val 13000"/>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TextBox 31"/>
          <p:cNvSpPr txBox="1"/>
          <p:nvPr/>
        </p:nvSpPr>
        <p:spPr>
          <a:xfrm>
            <a:off x="3968496" y="3593592"/>
            <a:ext cx="2514600" cy="146304"/>
          </a:xfrm>
          <a:prstGeom prst="rect">
            <a:avLst/>
          </a:prstGeom>
          <a:noFill/>
        </p:spPr>
        <p:txBody>
          <a:bodyPr wrap="square" lIns="0" tIns="0" rIns="0" bIns="0" anchor="t">
            <a:noAutofit/>
          </a:bodyPr>
          <a:lstStyle/>
          <a:p>
            <a:pPr algn="l"/>
            <a:r>
              <a:rPr sz="800" b="0" i="0" spc="90">
                <a:solidFill>
                  <a:srgbClr val="6FD9C8"/>
                </a:solidFill>
                <a:latin typeface="JetBrains Mono"/>
                <a:ea typeface="JetBrains Mono"/>
                <a:cs typeface="JetBrains Mono"/>
              </a:rPr>
              <a:t>PIPELINE 2</a:t>
            </a:r>
          </a:p>
        </p:txBody>
      </p:sp>
      <p:sp>
        <p:nvSpPr>
          <p:cNvPr id="33" name="TextBox 32"/>
          <p:cNvSpPr txBox="1"/>
          <p:nvPr/>
        </p:nvSpPr>
        <p:spPr>
          <a:xfrm>
            <a:off x="3968496" y="3767328"/>
            <a:ext cx="2542032" cy="237744"/>
          </a:xfrm>
          <a:prstGeom prst="rect">
            <a:avLst/>
          </a:prstGeom>
          <a:noFill/>
        </p:spPr>
        <p:txBody>
          <a:bodyPr wrap="square" lIns="0" tIns="0" rIns="0" bIns="0" anchor="t">
            <a:noAutofit/>
          </a:bodyPr>
          <a:lstStyle/>
          <a:p>
            <a:pPr algn="l"/>
            <a:r>
              <a:rPr sz="1150" b="1" i="0">
                <a:solidFill>
                  <a:srgbClr val="F3F4F1"/>
                </a:solidFill>
                <a:latin typeface="IBM Plex Sans"/>
                <a:ea typeface="IBM Plex Sans"/>
                <a:cs typeface="IBM Plex Sans"/>
              </a:rPr>
              <a:t>Python verifies — zero AI</a:t>
            </a:r>
          </a:p>
        </p:txBody>
      </p:sp>
      <p:pic>
        <p:nvPicPr>
          <p:cNvPr id="34" name="Picture 33" descr="image5.png"/>
          <p:cNvPicPr>
            <a:picLocks noChangeAspect="1"/>
          </p:cNvPicPr>
          <p:nvPr/>
        </p:nvPicPr>
        <p:blipFill>
          <a:blip r:embed="rId3"/>
          <a:stretch>
            <a:fillRect/>
          </a:stretch>
        </p:blipFill>
        <p:spPr>
          <a:xfrm>
            <a:off x="6665976" y="3364992"/>
            <a:ext cx="310896" cy="155448"/>
          </a:xfrm>
          <a:prstGeom prst="rect">
            <a:avLst/>
          </a:prstGeom>
        </p:spPr>
      </p:pic>
      <p:sp>
        <p:nvSpPr>
          <p:cNvPr id="35" name="Rounded Rectangle 34"/>
          <p:cNvSpPr/>
          <p:nvPr/>
        </p:nvSpPr>
        <p:spPr>
          <a:xfrm>
            <a:off x="7022592" y="2798064"/>
            <a:ext cx="2331720" cy="1298448"/>
          </a:xfrm>
          <a:prstGeom prst="roundRect">
            <a:avLst>
              <a:gd name="adj" fmla="val 7000"/>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TextBox 35"/>
          <p:cNvSpPr txBox="1"/>
          <p:nvPr/>
        </p:nvSpPr>
        <p:spPr>
          <a:xfrm>
            <a:off x="7187184" y="2944368"/>
            <a:ext cx="2039112" cy="1005839"/>
          </a:xfrm>
          <a:prstGeom prst="rect">
            <a:avLst/>
          </a:prstGeom>
          <a:noFill/>
        </p:spPr>
        <p:txBody>
          <a:bodyPr wrap="square" lIns="0" tIns="0" rIns="0" bIns="0" anchor="ctr">
            <a:noAutofit/>
          </a:bodyPr>
          <a:lstStyle/>
          <a:p>
            <a:pPr algn="l">
              <a:lnSpc>
                <a:spcPct val="120000"/>
              </a:lnSpc>
            </a:pPr>
            <a:r>
              <a:rPr sz="1350" b="1" i="0">
                <a:solidFill>
                  <a:srgbClr val="F3F4F1"/>
                </a:solidFill>
                <a:latin typeface="IBM Plex Sans"/>
                <a:ea typeface="IBM Plex Sans"/>
                <a:cs typeface="IBM Plex Sans"/>
              </a:rPr>
              <a:t>Comparator</a:t>
            </a:r>
          </a:p>
          <a:p>
            <a:pPr algn="l">
              <a:lnSpc>
                <a:spcPct val="120000"/>
              </a:lnSpc>
              <a:spcBef>
                <a:spcPts val="400"/>
              </a:spcBef>
            </a:pPr>
            <a:r>
              <a:rPr sz="1050" b="0" i="0">
                <a:solidFill>
                  <a:srgbClr val="C7CCD8"/>
                </a:solidFill>
                <a:latin typeface="IBM Plex Sans"/>
                <a:ea typeface="IBM Plex Sans"/>
                <a:cs typeface="IBM Plex Sans"/>
              </a:rPr>
              <a:t>every claim, field by field</a:t>
            </a:r>
          </a:p>
        </p:txBody>
      </p:sp>
      <p:pic>
        <p:nvPicPr>
          <p:cNvPr id="37" name="Picture 36" descr="image5.png"/>
          <p:cNvPicPr>
            <a:picLocks noChangeAspect="1"/>
          </p:cNvPicPr>
          <p:nvPr/>
        </p:nvPicPr>
        <p:blipFill>
          <a:blip r:embed="rId3"/>
          <a:stretch>
            <a:fillRect/>
          </a:stretch>
        </p:blipFill>
        <p:spPr>
          <a:xfrm>
            <a:off x="9400032" y="3364992"/>
            <a:ext cx="310896" cy="155448"/>
          </a:xfrm>
          <a:prstGeom prst="rect">
            <a:avLst/>
          </a:prstGeom>
        </p:spPr>
      </p:pic>
      <p:sp>
        <p:nvSpPr>
          <p:cNvPr id="38" name="Rounded Rectangle 37"/>
          <p:cNvSpPr/>
          <p:nvPr/>
        </p:nvSpPr>
        <p:spPr>
          <a:xfrm>
            <a:off x="9756648" y="2798064"/>
            <a:ext cx="1572768" cy="1298448"/>
          </a:xfrm>
          <a:prstGeom prst="roundRect">
            <a:avLst>
              <a:gd name="adj" fmla="val 7000"/>
            </a:avLst>
          </a:prstGeom>
          <a:solidFill>
            <a:srgbClr val="D9F0EC"/>
          </a:solidFill>
          <a:ln w="9525">
            <a:solidFill>
              <a:srgbClr val="9ED9CD"/>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9" name="TextBox 38"/>
          <p:cNvSpPr txBox="1"/>
          <p:nvPr/>
        </p:nvSpPr>
        <p:spPr>
          <a:xfrm>
            <a:off x="9884664" y="2944368"/>
            <a:ext cx="1316736" cy="1005839"/>
          </a:xfrm>
          <a:prstGeom prst="rect">
            <a:avLst/>
          </a:prstGeom>
          <a:noFill/>
        </p:spPr>
        <p:txBody>
          <a:bodyPr wrap="square" lIns="0" tIns="0" rIns="0" bIns="0" anchor="ctr">
            <a:noAutofit/>
          </a:bodyPr>
          <a:lstStyle/>
          <a:p>
            <a:pPr algn="l">
              <a:lnSpc>
                <a:spcPct val="120000"/>
              </a:lnSpc>
            </a:pPr>
            <a:r>
              <a:rPr sz="850" b="0" i="0" spc="60">
                <a:solidFill>
                  <a:srgbClr val="0F6358"/>
                </a:solidFill>
                <a:latin typeface="JetBrains Mono"/>
                <a:ea typeface="JetBrains Mono"/>
                <a:cs typeface="JetBrains Mono"/>
              </a:rPr>
              <a:t>VERIFIED PLAN</a:t>
            </a:r>
          </a:p>
          <a:p>
            <a:pPr algn="l">
              <a:lnSpc>
                <a:spcPct val="120000"/>
              </a:lnSpc>
              <a:spcBef>
                <a:spcPts val="500"/>
              </a:spcBef>
            </a:pPr>
            <a:r>
              <a:rPr sz="1050" b="1" i="0">
                <a:solidFill>
                  <a:srgbClr val="0F6358"/>
                </a:solidFill>
                <a:latin typeface="IBM Plex Sans"/>
                <a:ea typeface="IBM Plex Sans"/>
                <a:cs typeface="IBM Plex Sans"/>
              </a:rPr>
              <a:t>or blocked</a:t>
            </a:r>
          </a:p>
        </p:txBody>
      </p:sp>
      <p:sp>
        <p:nvSpPr>
          <p:cNvPr id="40" name="TextBox 39"/>
          <p:cNvSpPr txBox="1"/>
          <p:nvPr/>
        </p:nvSpPr>
        <p:spPr>
          <a:xfrm>
            <a:off x="813816" y="4297680"/>
            <a:ext cx="5486400" cy="182880"/>
          </a:xfrm>
          <a:prstGeom prst="rect">
            <a:avLst/>
          </a:prstGeom>
          <a:noFill/>
        </p:spPr>
        <p:txBody>
          <a:bodyPr wrap="square" lIns="0" tIns="0" rIns="0" bIns="0" anchor="t">
            <a:noAutofit/>
          </a:bodyPr>
          <a:lstStyle/>
          <a:p>
            <a:pPr algn="l"/>
            <a:r>
              <a:rPr sz="900" b="0" i="0" spc="110">
                <a:solidFill>
                  <a:srgbClr val="1C9C8A"/>
                </a:solidFill>
                <a:latin typeface="JetBrains Mono"/>
                <a:ea typeface="JetBrains Mono"/>
                <a:cs typeface="JetBrains Mono"/>
              </a:rPr>
              <a:t>WORKFLOW · EIGHT STEPS</a:t>
            </a:r>
          </a:p>
        </p:txBody>
      </p:sp>
      <p:sp>
        <p:nvSpPr>
          <p:cNvPr id="41" name="Rounded Rectangle 40"/>
          <p:cNvSpPr/>
          <p:nvPr/>
        </p:nvSpPr>
        <p:spPr>
          <a:xfrm>
            <a:off x="813816" y="4498848"/>
            <a:ext cx="2551176" cy="530352"/>
          </a:xfrm>
          <a:prstGeom prst="roundRect">
            <a:avLst>
              <a:gd name="adj" fmla="val 12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2" name="TextBox 41"/>
          <p:cNvSpPr txBox="1"/>
          <p:nvPr/>
        </p:nvSpPr>
        <p:spPr>
          <a:xfrm>
            <a:off x="960120" y="4581144"/>
            <a:ext cx="310896" cy="365760"/>
          </a:xfrm>
          <a:prstGeom prst="rect">
            <a:avLst/>
          </a:prstGeom>
          <a:noFill/>
        </p:spPr>
        <p:txBody>
          <a:bodyPr wrap="square" lIns="0" tIns="0" rIns="0" bIns="0" anchor="ctr">
            <a:noAutofit/>
          </a:bodyPr>
          <a:lstStyle/>
          <a:p>
            <a:pPr algn="l"/>
            <a:r>
              <a:rPr sz="1000" b="0" i="0" spc="40">
                <a:solidFill>
                  <a:srgbClr val="1C9C8A"/>
                </a:solidFill>
                <a:latin typeface="JetBrains Mono"/>
                <a:ea typeface="JetBrains Mono"/>
                <a:cs typeface="JetBrains Mono"/>
              </a:rPr>
              <a:t>01</a:t>
            </a:r>
          </a:p>
        </p:txBody>
      </p:sp>
      <p:sp>
        <p:nvSpPr>
          <p:cNvPr id="43" name="TextBox 42"/>
          <p:cNvSpPr txBox="1"/>
          <p:nvPr/>
        </p:nvSpPr>
        <p:spPr>
          <a:xfrm>
            <a:off x="1289304" y="4581144"/>
            <a:ext cx="1947672" cy="384048"/>
          </a:xfrm>
          <a:prstGeom prst="rect">
            <a:avLst/>
          </a:prstGeom>
          <a:noFill/>
        </p:spPr>
        <p:txBody>
          <a:bodyPr wrap="square" lIns="0" tIns="0" rIns="0" bIns="0" anchor="ctr">
            <a:noAutofit/>
          </a:bodyPr>
          <a:lstStyle/>
          <a:p>
            <a:pPr algn="l">
              <a:lnSpc>
                <a:spcPct val="110000"/>
              </a:lnSpc>
            </a:pPr>
            <a:r>
              <a:rPr sz="1050" b="1" i="0">
                <a:solidFill>
                  <a:srgbClr val="141A2B"/>
                </a:solidFill>
                <a:latin typeface="IBM Plex Sans"/>
                <a:ea typeface="IBM Plex Sans"/>
                <a:cs typeface="IBM Plex Sans"/>
              </a:rPr>
              <a:t>Company knowledge sources</a:t>
            </a:r>
          </a:p>
        </p:txBody>
      </p:sp>
      <p:sp>
        <p:nvSpPr>
          <p:cNvPr id="44" name="Rounded Rectangle 43"/>
          <p:cNvSpPr/>
          <p:nvPr/>
        </p:nvSpPr>
        <p:spPr>
          <a:xfrm>
            <a:off x="3474720" y="4498848"/>
            <a:ext cx="2551176" cy="530352"/>
          </a:xfrm>
          <a:prstGeom prst="roundRect">
            <a:avLst>
              <a:gd name="adj" fmla="val 12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44"/>
          <p:cNvSpPr txBox="1"/>
          <p:nvPr/>
        </p:nvSpPr>
        <p:spPr>
          <a:xfrm>
            <a:off x="3621024" y="4581144"/>
            <a:ext cx="310896" cy="365760"/>
          </a:xfrm>
          <a:prstGeom prst="rect">
            <a:avLst/>
          </a:prstGeom>
          <a:noFill/>
        </p:spPr>
        <p:txBody>
          <a:bodyPr wrap="square" lIns="0" tIns="0" rIns="0" bIns="0" anchor="ctr">
            <a:noAutofit/>
          </a:bodyPr>
          <a:lstStyle/>
          <a:p>
            <a:pPr algn="l"/>
            <a:r>
              <a:rPr sz="1000" b="0" i="0" spc="40">
                <a:solidFill>
                  <a:srgbClr val="1C9C8A"/>
                </a:solidFill>
                <a:latin typeface="JetBrains Mono"/>
                <a:ea typeface="JetBrains Mono"/>
                <a:cs typeface="JetBrains Mono"/>
              </a:rPr>
              <a:t>02</a:t>
            </a:r>
          </a:p>
        </p:txBody>
      </p:sp>
      <p:sp>
        <p:nvSpPr>
          <p:cNvPr id="46" name="TextBox 45"/>
          <p:cNvSpPr txBox="1"/>
          <p:nvPr/>
        </p:nvSpPr>
        <p:spPr>
          <a:xfrm>
            <a:off x="3950208" y="4581144"/>
            <a:ext cx="1947672" cy="384048"/>
          </a:xfrm>
          <a:prstGeom prst="rect">
            <a:avLst/>
          </a:prstGeom>
          <a:noFill/>
        </p:spPr>
        <p:txBody>
          <a:bodyPr wrap="square" lIns="0" tIns="0" rIns="0" bIns="0" anchor="ctr">
            <a:noAutofit/>
          </a:bodyPr>
          <a:lstStyle/>
          <a:p>
            <a:pPr algn="l">
              <a:lnSpc>
                <a:spcPct val="110000"/>
              </a:lnSpc>
            </a:pPr>
            <a:r>
              <a:rPr sz="1050" b="1" i="0">
                <a:solidFill>
                  <a:srgbClr val="141A2B"/>
                </a:solidFill>
                <a:latin typeface="IBM Plex Sans"/>
                <a:ea typeface="IBM Plex Sans"/>
                <a:cs typeface="IBM Plex Sans"/>
              </a:rPr>
              <a:t>Upload &amp; PDF processing</a:t>
            </a:r>
          </a:p>
        </p:txBody>
      </p:sp>
      <p:sp>
        <p:nvSpPr>
          <p:cNvPr id="47" name="Rounded Rectangle 46"/>
          <p:cNvSpPr/>
          <p:nvPr/>
        </p:nvSpPr>
        <p:spPr>
          <a:xfrm>
            <a:off x="6135624" y="4498848"/>
            <a:ext cx="2551176" cy="530352"/>
          </a:xfrm>
          <a:prstGeom prst="roundRect">
            <a:avLst>
              <a:gd name="adj" fmla="val 12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47"/>
          <p:cNvSpPr txBox="1"/>
          <p:nvPr/>
        </p:nvSpPr>
        <p:spPr>
          <a:xfrm>
            <a:off x="6281928" y="4581144"/>
            <a:ext cx="310896" cy="365760"/>
          </a:xfrm>
          <a:prstGeom prst="rect">
            <a:avLst/>
          </a:prstGeom>
          <a:noFill/>
        </p:spPr>
        <p:txBody>
          <a:bodyPr wrap="square" lIns="0" tIns="0" rIns="0" bIns="0" anchor="ctr">
            <a:noAutofit/>
          </a:bodyPr>
          <a:lstStyle/>
          <a:p>
            <a:pPr algn="l"/>
            <a:r>
              <a:rPr sz="1000" b="0" i="0" spc="40">
                <a:solidFill>
                  <a:srgbClr val="1C9C8A"/>
                </a:solidFill>
                <a:latin typeface="JetBrains Mono"/>
                <a:ea typeface="JetBrains Mono"/>
                <a:cs typeface="JetBrains Mono"/>
              </a:rPr>
              <a:t>03</a:t>
            </a:r>
          </a:p>
        </p:txBody>
      </p:sp>
      <p:sp>
        <p:nvSpPr>
          <p:cNvPr id="49" name="TextBox 48"/>
          <p:cNvSpPr txBox="1"/>
          <p:nvPr/>
        </p:nvSpPr>
        <p:spPr>
          <a:xfrm>
            <a:off x="6611112" y="4581144"/>
            <a:ext cx="1947672" cy="384048"/>
          </a:xfrm>
          <a:prstGeom prst="rect">
            <a:avLst/>
          </a:prstGeom>
          <a:noFill/>
        </p:spPr>
        <p:txBody>
          <a:bodyPr wrap="square" lIns="0" tIns="0" rIns="0" bIns="0" anchor="ctr">
            <a:noAutofit/>
          </a:bodyPr>
          <a:lstStyle/>
          <a:p>
            <a:pPr algn="l">
              <a:lnSpc>
                <a:spcPct val="110000"/>
              </a:lnSpc>
            </a:pPr>
            <a:r>
              <a:rPr sz="1050" b="1" i="0">
                <a:solidFill>
                  <a:srgbClr val="141A2B"/>
                </a:solidFill>
                <a:latin typeface="IBM Plex Sans"/>
                <a:ea typeface="IBM Plex Sans"/>
                <a:cs typeface="IBM Plex Sans"/>
              </a:rPr>
              <a:t>Roles &amp; requirements</a:t>
            </a:r>
          </a:p>
        </p:txBody>
      </p:sp>
      <p:sp>
        <p:nvSpPr>
          <p:cNvPr id="50" name="Rounded Rectangle 49"/>
          <p:cNvSpPr/>
          <p:nvPr/>
        </p:nvSpPr>
        <p:spPr>
          <a:xfrm>
            <a:off x="8796528" y="4498848"/>
            <a:ext cx="2551176" cy="530352"/>
          </a:xfrm>
          <a:prstGeom prst="roundRect">
            <a:avLst>
              <a:gd name="adj" fmla="val 12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TextBox 50"/>
          <p:cNvSpPr txBox="1"/>
          <p:nvPr/>
        </p:nvSpPr>
        <p:spPr>
          <a:xfrm>
            <a:off x="8942832" y="4581144"/>
            <a:ext cx="310896" cy="365760"/>
          </a:xfrm>
          <a:prstGeom prst="rect">
            <a:avLst/>
          </a:prstGeom>
          <a:noFill/>
        </p:spPr>
        <p:txBody>
          <a:bodyPr wrap="square" lIns="0" tIns="0" rIns="0" bIns="0" anchor="ctr">
            <a:noAutofit/>
          </a:bodyPr>
          <a:lstStyle/>
          <a:p>
            <a:pPr algn="l"/>
            <a:r>
              <a:rPr sz="1000" b="0" i="0" spc="40">
                <a:solidFill>
                  <a:srgbClr val="1C9C8A"/>
                </a:solidFill>
                <a:latin typeface="JetBrains Mono"/>
                <a:ea typeface="JetBrains Mono"/>
                <a:cs typeface="JetBrains Mono"/>
              </a:rPr>
              <a:t>04</a:t>
            </a:r>
          </a:p>
        </p:txBody>
      </p:sp>
      <p:sp>
        <p:nvSpPr>
          <p:cNvPr id="52" name="TextBox 51"/>
          <p:cNvSpPr txBox="1"/>
          <p:nvPr/>
        </p:nvSpPr>
        <p:spPr>
          <a:xfrm>
            <a:off x="9272016" y="4581144"/>
            <a:ext cx="1947672" cy="384048"/>
          </a:xfrm>
          <a:prstGeom prst="rect">
            <a:avLst/>
          </a:prstGeom>
          <a:noFill/>
        </p:spPr>
        <p:txBody>
          <a:bodyPr wrap="square" lIns="0" tIns="0" rIns="0" bIns="0" anchor="ctr">
            <a:noAutofit/>
          </a:bodyPr>
          <a:lstStyle/>
          <a:p>
            <a:pPr algn="l">
              <a:lnSpc>
                <a:spcPct val="110000"/>
              </a:lnSpc>
            </a:pPr>
            <a:r>
              <a:rPr sz="1050" b="1" i="0">
                <a:solidFill>
                  <a:srgbClr val="141A2B"/>
                </a:solidFill>
                <a:latin typeface="IBM Plex Sans"/>
                <a:ea typeface="IBM Plex Sans"/>
                <a:cs typeface="IBM Plex Sans"/>
              </a:rPr>
              <a:t>Pipeline 1 · Gemini draft</a:t>
            </a:r>
          </a:p>
        </p:txBody>
      </p:sp>
      <p:sp>
        <p:nvSpPr>
          <p:cNvPr id="53" name="Rounded Rectangle 52"/>
          <p:cNvSpPr/>
          <p:nvPr/>
        </p:nvSpPr>
        <p:spPr>
          <a:xfrm>
            <a:off x="813816" y="5138928"/>
            <a:ext cx="2551176" cy="530352"/>
          </a:xfrm>
          <a:prstGeom prst="roundRect">
            <a:avLst>
              <a:gd name="adj" fmla="val 12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4" name="TextBox 53"/>
          <p:cNvSpPr txBox="1"/>
          <p:nvPr/>
        </p:nvSpPr>
        <p:spPr>
          <a:xfrm>
            <a:off x="960120" y="5221224"/>
            <a:ext cx="310896" cy="365760"/>
          </a:xfrm>
          <a:prstGeom prst="rect">
            <a:avLst/>
          </a:prstGeom>
          <a:noFill/>
        </p:spPr>
        <p:txBody>
          <a:bodyPr wrap="square" lIns="0" tIns="0" rIns="0" bIns="0" anchor="ctr">
            <a:noAutofit/>
          </a:bodyPr>
          <a:lstStyle/>
          <a:p>
            <a:pPr algn="l"/>
            <a:r>
              <a:rPr sz="1000" b="0" i="0" spc="40">
                <a:solidFill>
                  <a:srgbClr val="1C9C8A"/>
                </a:solidFill>
                <a:latin typeface="JetBrains Mono"/>
                <a:ea typeface="JetBrains Mono"/>
                <a:cs typeface="JetBrains Mono"/>
              </a:rPr>
              <a:t>05</a:t>
            </a:r>
          </a:p>
        </p:txBody>
      </p:sp>
      <p:sp>
        <p:nvSpPr>
          <p:cNvPr id="55" name="TextBox 54"/>
          <p:cNvSpPr txBox="1"/>
          <p:nvPr/>
        </p:nvSpPr>
        <p:spPr>
          <a:xfrm>
            <a:off x="1289304" y="5221224"/>
            <a:ext cx="1947672" cy="384048"/>
          </a:xfrm>
          <a:prstGeom prst="rect">
            <a:avLst/>
          </a:prstGeom>
          <a:noFill/>
        </p:spPr>
        <p:txBody>
          <a:bodyPr wrap="square" lIns="0" tIns="0" rIns="0" bIns="0" anchor="ctr">
            <a:noAutofit/>
          </a:bodyPr>
          <a:lstStyle/>
          <a:p>
            <a:pPr algn="l">
              <a:lnSpc>
                <a:spcPct val="110000"/>
              </a:lnSpc>
            </a:pPr>
            <a:r>
              <a:rPr sz="1050" b="1" i="0">
                <a:solidFill>
                  <a:srgbClr val="141A2B"/>
                </a:solidFill>
                <a:latin typeface="IBM Plex Sans"/>
                <a:ea typeface="IBM Plex Sans"/>
                <a:cs typeface="IBM Plex Sans"/>
              </a:rPr>
              <a:t>Pipeline 2 · Python check</a:t>
            </a:r>
          </a:p>
        </p:txBody>
      </p:sp>
      <p:sp>
        <p:nvSpPr>
          <p:cNvPr id="56" name="Rounded Rectangle 55"/>
          <p:cNvSpPr/>
          <p:nvPr/>
        </p:nvSpPr>
        <p:spPr>
          <a:xfrm>
            <a:off x="3474720" y="5138928"/>
            <a:ext cx="2551176" cy="530352"/>
          </a:xfrm>
          <a:prstGeom prst="roundRect">
            <a:avLst>
              <a:gd name="adj" fmla="val 12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TextBox 56"/>
          <p:cNvSpPr txBox="1"/>
          <p:nvPr/>
        </p:nvSpPr>
        <p:spPr>
          <a:xfrm>
            <a:off x="3621024" y="5221224"/>
            <a:ext cx="310896" cy="365760"/>
          </a:xfrm>
          <a:prstGeom prst="rect">
            <a:avLst/>
          </a:prstGeom>
          <a:noFill/>
        </p:spPr>
        <p:txBody>
          <a:bodyPr wrap="square" lIns="0" tIns="0" rIns="0" bIns="0" anchor="ctr">
            <a:noAutofit/>
          </a:bodyPr>
          <a:lstStyle/>
          <a:p>
            <a:pPr algn="l"/>
            <a:r>
              <a:rPr sz="1000" b="0" i="0" spc="40">
                <a:solidFill>
                  <a:srgbClr val="1C9C8A"/>
                </a:solidFill>
                <a:latin typeface="JetBrains Mono"/>
                <a:ea typeface="JetBrains Mono"/>
                <a:cs typeface="JetBrains Mono"/>
              </a:rPr>
              <a:t>06</a:t>
            </a:r>
          </a:p>
        </p:txBody>
      </p:sp>
      <p:sp>
        <p:nvSpPr>
          <p:cNvPr id="58" name="TextBox 57"/>
          <p:cNvSpPr txBox="1"/>
          <p:nvPr/>
        </p:nvSpPr>
        <p:spPr>
          <a:xfrm>
            <a:off x="3950208" y="5221224"/>
            <a:ext cx="1947672" cy="384048"/>
          </a:xfrm>
          <a:prstGeom prst="rect">
            <a:avLst/>
          </a:prstGeom>
          <a:noFill/>
        </p:spPr>
        <p:txBody>
          <a:bodyPr wrap="square" lIns="0" tIns="0" rIns="0" bIns="0" anchor="ctr">
            <a:noAutofit/>
          </a:bodyPr>
          <a:lstStyle/>
          <a:p>
            <a:pPr algn="l">
              <a:lnSpc>
                <a:spcPct val="110000"/>
              </a:lnSpc>
            </a:pPr>
            <a:r>
              <a:rPr sz="1050" b="1" i="0">
                <a:solidFill>
                  <a:srgbClr val="141A2B"/>
                </a:solidFill>
                <a:latin typeface="IBM Plex Sans"/>
                <a:ea typeface="IBM Plex Sans"/>
                <a:cs typeface="IBM Plex Sans"/>
              </a:rPr>
              <a:t>Compare field by field</a:t>
            </a:r>
          </a:p>
        </p:txBody>
      </p:sp>
      <p:sp>
        <p:nvSpPr>
          <p:cNvPr id="59" name="Rounded Rectangle 58"/>
          <p:cNvSpPr/>
          <p:nvPr/>
        </p:nvSpPr>
        <p:spPr>
          <a:xfrm>
            <a:off x="6135624" y="5138928"/>
            <a:ext cx="2551176" cy="530352"/>
          </a:xfrm>
          <a:prstGeom prst="roundRect">
            <a:avLst>
              <a:gd name="adj" fmla="val 12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TextBox 59"/>
          <p:cNvSpPr txBox="1"/>
          <p:nvPr/>
        </p:nvSpPr>
        <p:spPr>
          <a:xfrm>
            <a:off x="6281928" y="5221224"/>
            <a:ext cx="310896" cy="365760"/>
          </a:xfrm>
          <a:prstGeom prst="rect">
            <a:avLst/>
          </a:prstGeom>
          <a:noFill/>
        </p:spPr>
        <p:txBody>
          <a:bodyPr wrap="square" lIns="0" tIns="0" rIns="0" bIns="0" anchor="ctr">
            <a:noAutofit/>
          </a:bodyPr>
          <a:lstStyle/>
          <a:p>
            <a:pPr algn="l"/>
            <a:r>
              <a:rPr sz="1000" b="0" i="0" spc="40">
                <a:solidFill>
                  <a:srgbClr val="1C9C8A"/>
                </a:solidFill>
                <a:latin typeface="JetBrains Mono"/>
                <a:ea typeface="JetBrains Mono"/>
                <a:cs typeface="JetBrains Mono"/>
              </a:rPr>
              <a:t>07</a:t>
            </a:r>
          </a:p>
        </p:txBody>
      </p:sp>
      <p:sp>
        <p:nvSpPr>
          <p:cNvPr id="61" name="TextBox 60"/>
          <p:cNvSpPr txBox="1"/>
          <p:nvPr/>
        </p:nvSpPr>
        <p:spPr>
          <a:xfrm>
            <a:off x="6611112" y="5221224"/>
            <a:ext cx="1947672" cy="384048"/>
          </a:xfrm>
          <a:prstGeom prst="rect">
            <a:avLst/>
          </a:prstGeom>
          <a:noFill/>
        </p:spPr>
        <p:txBody>
          <a:bodyPr wrap="square" lIns="0" tIns="0" rIns="0" bIns="0" anchor="ctr">
            <a:noAutofit/>
          </a:bodyPr>
          <a:lstStyle/>
          <a:p>
            <a:pPr algn="l">
              <a:lnSpc>
                <a:spcPct val="110000"/>
              </a:lnSpc>
            </a:pPr>
            <a:r>
              <a:rPr sz="1050" b="1" i="0">
                <a:solidFill>
                  <a:srgbClr val="141A2B"/>
                </a:solidFill>
                <a:latin typeface="IBM Plex Sans"/>
                <a:ea typeface="IBM Plex Sans"/>
                <a:cs typeface="IBM Plex Sans"/>
              </a:rPr>
              <a:t>Verification decision</a:t>
            </a:r>
          </a:p>
        </p:txBody>
      </p:sp>
      <p:sp>
        <p:nvSpPr>
          <p:cNvPr id="62" name="Rounded Rectangle 61"/>
          <p:cNvSpPr/>
          <p:nvPr/>
        </p:nvSpPr>
        <p:spPr>
          <a:xfrm>
            <a:off x="8796528" y="5138928"/>
            <a:ext cx="2551176" cy="530352"/>
          </a:xfrm>
          <a:prstGeom prst="roundRect">
            <a:avLst>
              <a:gd name="adj" fmla="val 120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3" name="TextBox 62"/>
          <p:cNvSpPr txBox="1"/>
          <p:nvPr/>
        </p:nvSpPr>
        <p:spPr>
          <a:xfrm>
            <a:off x="8942832" y="5221224"/>
            <a:ext cx="310896" cy="365760"/>
          </a:xfrm>
          <a:prstGeom prst="rect">
            <a:avLst/>
          </a:prstGeom>
          <a:noFill/>
        </p:spPr>
        <p:txBody>
          <a:bodyPr wrap="square" lIns="0" tIns="0" rIns="0" bIns="0" anchor="ctr">
            <a:noAutofit/>
          </a:bodyPr>
          <a:lstStyle/>
          <a:p>
            <a:pPr algn="l"/>
            <a:r>
              <a:rPr sz="1000" b="0" i="0" spc="40">
                <a:solidFill>
                  <a:srgbClr val="1C9C8A"/>
                </a:solidFill>
                <a:latin typeface="JetBrains Mono"/>
                <a:ea typeface="JetBrains Mono"/>
                <a:cs typeface="JetBrains Mono"/>
              </a:rPr>
              <a:t>08</a:t>
            </a:r>
          </a:p>
        </p:txBody>
      </p:sp>
      <p:sp>
        <p:nvSpPr>
          <p:cNvPr id="64" name="TextBox 63"/>
          <p:cNvSpPr txBox="1"/>
          <p:nvPr/>
        </p:nvSpPr>
        <p:spPr>
          <a:xfrm>
            <a:off x="9272016" y="5221224"/>
            <a:ext cx="1947672" cy="384048"/>
          </a:xfrm>
          <a:prstGeom prst="rect">
            <a:avLst/>
          </a:prstGeom>
          <a:noFill/>
        </p:spPr>
        <p:txBody>
          <a:bodyPr wrap="square" lIns="0" tIns="0" rIns="0" bIns="0" anchor="ctr">
            <a:noAutofit/>
          </a:bodyPr>
          <a:lstStyle/>
          <a:p>
            <a:pPr algn="l">
              <a:lnSpc>
                <a:spcPct val="110000"/>
              </a:lnSpc>
            </a:pPr>
            <a:r>
              <a:rPr sz="1050" b="1" i="0">
                <a:solidFill>
                  <a:srgbClr val="141A2B"/>
                </a:solidFill>
                <a:latin typeface="IBM Plex Sans"/>
                <a:ea typeface="IBM Plex Sans"/>
                <a:cs typeface="IBM Plex Sans"/>
              </a:rPr>
              <a:t>Verified plan &amp; dashboard</a:t>
            </a:r>
          </a:p>
        </p:txBody>
      </p:sp>
      <p:sp>
        <p:nvSpPr>
          <p:cNvPr id="65" name="TextBox 64"/>
          <p:cNvSpPr txBox="1"/>
          <p:nvPr/>
        </p:nvSpPr>
        <p:spPr>
          <a:xfrm>
            <a:off x="813816" y="6336792"/>
            <a:ext cx="2926080" cy="201168"/>
          </a:xfrm>
          <a:prstGeom prst="rect">
            <a:avLst/>
          </a:prstGeom>
          <a:noFill/>
        </p:spPr>
        <p:txBody>
          <a:bodyPr wrap="square" lIns="0" tIns="0" rIns="0" bIns="0" anchor="t">
            <a:noAutofit/>
          </a:bodyPr>
          <a:lstStyle/>
          <a:p>
            <a:pPr algn="l"/>
            <a:r>
              <a:rPr sz="1000" b="0" i="0" spc="40">
                <a:solidFill>
                  <a:srgbClr val="9099A6"/>
                </a:solidFill>
                <a:latin typeface="JetBrains Mono"/>
                <a:ea typeface="JetBrains Mono"/>
                <a:cs typeface="JetBrains Mono"/>
              </a:rPr>
              <a:t>SkillSprint AI</a:t>
            </a:r>
          </a:p>
        </p:txBody>
      </p:sp>
      <p:sp>
        <p:nvSpPr>
          <p:cNvPr id="66" name="TextBox 65"/>
          <p:cNvSpPr txBox="1"/>
          <p:nvPr/>
        </p:nvSpPr>
        <p:spPr>
          <a:xfrm>
            <a:off x="9875520" y="6336792"/>
            <a:ext cx="1508760" cy="201168"/>
          </a:xfrm>
          <a:prstGeom prst="rect">
            <a:avLst/>
          </a:prstGeom>
          <a:noFill/>
        </p:spPr>
        <p:txBody>
          <a:bodyPr wrap="square" lIns="0" tIns="0" rIns="0" bIns="0" anchor="t">
            <a:noAutofit/>
          </a:bodyPr>
          <a:lstStyle/>
          <a:p>
            <a:pPr algn="r"/>
            <a:r>
              <a:rPr sz="1000" b="0" i="0" spc="40">
                <a:solidFill>
                  <a:srgbClr val="9099A6"/>
                </a:solidFill>
                <a:latin typeface="JetBrains Mono"/>
                <a:ea typeface="JetBrains Mono"/>
                <a:cs typeface="JetBrains Mono"/>
              </a:rPr>
              <a:t>02 / 05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731520"/>
            <a:ext cx="9966960" cy="420624"/>
          </a:xfrm>
        </p:spPr>
        <p:txBody>
          <a:bodyPr wrap="square" lIns="0" tIns="0" rIns="0" bIns="0" anchor="t">
            <a:noAutofit/>
          </a:bodyPr>
          <a:lstStyle/>
          <a:p>
            <a:pPr algn="l">
              <a:lnSpc>
                <a:spcPct val="100000"/>
              </a:lnSpc>
            </a:pPr>
            <a:r>
              <a:rPr sz="3000" b="1">
                <a:solidFill>
                  <a:srgbClr val="141A2B"/>
                </a:solidFill>
                <a:latin typeface="IBM Plex Sans"/>
                <a:ea typeface="IBM Plex Sans"/>
                <a:cs typeface="IBM Plex Sans"/>
              </a:rPr>
              <a:t>Two Pipelines: One Writes, One Verifies</a:t>
            </a:r>
          </a:p>
        </p:txBody>
      </p:sp>
      <p:sp>
        <p:nvSpPr>
          <p:cNvPr id="3" name="TextBox 2"/>
          <p:cNvSpPr txBox="1"/>
          <p:nvPr/>
        </p:nvSpPr>
        <p:spPr>
          <a:xfrm>
            <a:off x="813816" y="475488"/>
            <a:ext cx="7315200" cy="201168"/>
          </a:xfrm>
          <a:prstGeom prst="rect">
            <a:avLst/>
          </a:prstGeom>
          <a:noFill/>
        </p:spPr>
        <p:txBody>
          <a:bodyPr wrap="square" lIns="0" tIns="0" rIns="0" bIns="0" anchor="t">
            <a:noAutofit/>
          </a:bodyPr>
          <a:lstStyle/>
          <a:p>
            <a:pPr algn="l"/>
            <a:r>
              <a:rPr sz="1000" b="0" i="0" spc="120">
                <a:solidFill>
                  <a:srgbClr val="1C9C8A"/>
                </a:solidFill>
                <a:latin typeface="JetBrains Mono"/>
                <a:ea typeface="JetBrains Mono"/>
                <a:cs typeface="JetBrains Mono"/>
              </a:rPr>
              <a:t>THE ARCHITECTURE</a:t>
            </a:r>
          </a:p>
        </p:txBody>
      </p:sp>
      <p:sp>
        <p:nvSpPr>
          <p:cNvPr id="4" name="TextBox 3"/>
          <p:cNvSpPr txBox="1"/>
          <p:nvPr/>
        </p:nvSpPr>
        <p:spPr>
          <a:xfrm>
            <a:off x="813816" y="1225296"/>
            <a:ext cx="10424160" cy="219456"/>
          </a:xfrm>
          <a:prstGeom prst="rect">
            <a:avLst/>
          </a:prstGeom>
          <a:noFill/>
        </p:spPr>
        <p:txBody>
          <a:bodyPr wrap="square" lIns="0" tIns="0" rIns="0" bIns="0" anchor="t">
            <a:noAutofit/>
          </a:bodyPr>
          <a:lstStyle/>
          <a:p>
            <a:pPr algn="l"/>
            <a:r>
              <a:rPr sz="1200" b="0" i="0">
                <a:solidFill>
                  <a:srgbClr val="4A5568"/>
                </a:solidFill>
                <a:latin typeface="IBM Plex Sans"/>
                <a:ea typeface="IBM Plex Sans"/>
                <a:cs typeface="IBM Plex Sans"/>
              </a:rPr>
              <a:t>Pipeline 1 drafts with Gemini. Pipeline 2 checks every claim in pure Python. The Comparator decides what publishes.</a:t>
            </a:r>
          </a:p>
        </p:txBody>
      </p:sp>
      <p:sp>
        <p:nvSpPr>
          <p:cNvPr id="5" name="Rounded Rectangle 4"/>
          <p:cNvSpPr/>
          <p:nvPr/>
        </p:nvSpPr>
        <p:spPr>
          <a:xfrm>
            <a:off x="813816" y="1645920"/>
            <a:ext cx="4892040" cy="3877056"/>
          </a:xfrm>
          <a:prstGeom prst="roundRect">
            <a:avLst>
              <a:gd name="adj" fmla="val 4200"/>
            </a:avLst>
          </a:prstGeom>
          <a:solidFill>
            <a:srgbClr val="F2FAF8"/>
          </a:solidFill>
          <a:ln w="9525">
            <a:solidFill>
              <a:srgbClr val="CFE8E1"/>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1088136" y="1883664"/>
            <a:ext cx="4023360" cy="182880"/>
          </a:xfrm>
          <a:prstGeom prst="rect">
            <a:avLst/>
          </a:prstGeom>
          <a:noFill/>
        </p:spPr>
        <p:txBody>
          <a:bodyPr wrap="square" lIns="0" tIns="0" rIns="0" bIns="0" anchor="t">
            <a:noAutofit/>
          </a:bodyPr>
          <a:lstStyle/>
          <a:p>
            <a:pPr algn="l"/>
            <a:r>
              <a:rPr sz="900" b="0" i="0" spc="110">
                <a:solidFill>
                  <a:srgbClr val="0F6358"/>
                </a:solidFill>
                <a:latin typeface="JetBrains Mono"/>
                <a:ea typeface="JetBrains Mono"/>
                <a:cs typeface="JetBrains Mono"/>
              </a:rPr>
              <a:t>PIPELINE 1 · GEMINI</a:t>
            </a:r>
          </a:p>
        </p:txBody>
      </p:sp>
      <p:sp>
        <p:nvSpPr>
          <p:cNvPr id="7" name="TextBox 6"/>
          <p:cNvSpPr txBox="1"/>
          <p:nvPr/>
        </p:nvSpPr>
        <p:spPr>
          <a:xfrm>
            <a:off x="1088136" y="2103120"/>
            <a:ext cx="4206240" cy="310896"/>
          </a:xfrm>
          <a:prstGeom prst="rect">
            <a:avLst/>
          </a:prstGeom>
          <a:noFill/>
        </p:spPr>
        <p:txBody>
          <a:bodyPr wrap="square" lIns="0" tIns="0" rIns="0" bIns="0" anchor="t">
            <a:noAutofit/>
          </a:bodyPr>
          <a:lstStyle/>
          <a:p>
            <a:pPr algn="l"/>
            <a:r>
              <a:rPr sz="1800" b="1" i="0">
                <a:solidFill>
                  <a:srgbClr val="141A2B"/>
                </a:solidFill>
                <a:latin typeface="IBM Plex Sans"/>
                <a:ea typeface="IBM Plex Sans"/>
                <a:cs typeface="IBM Plex Sans"/>
              </a:rPr>
              <a:t>The generative author</a:t>
            </a:r>
          </a:p>
        </p:txBody>
      </p:sp>
      <p:sp>
        <p:nvSpPr>
          <p:cNvPr id="8" name="Rectangle 7"/>
          <p:cNvSpPr/>
          <p:nvPr/>
        </p:nvSpPr>
        <p:spPr>
          <a:xfrm>
            <a:off x="1088136" y="2505456"/>
            <a:ext cx="4343400" cy="9144"/>
          </a:xfrm>
          <a:prstGeom prst="rect">
            <a:avLst/>
          </a:prstGeom>
          <a:solidFill>
            <a:srgbClr val="CFE8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88136" y="2633472"/>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01</a:t>
            </a:r>
          </a:p>
        </p:txBody>
      </p:sp>
      <p:sp>
        <p:nvSpPr>
          <p:cNvPr id="10" name="TextBox 9"/>
          <p:cNvSpPr txBox="1"/>
          <p:nvPr/>
        </p:nvSpPr>
        <p:spPr>
          <a:xfrm>
            <a:off x="1417320" y="2615184"/>
            <a:ext cx="4023360" cy="438912"/>
          </a:xfrm>
          <a:prstGeom prst="rect">
            <a:avLst/>
          </a:prstGeom>
          <a:noFill/>
        </p:spPr>
        <p:txBody>
          <a:bodyPr wrap="square" lIns="0" tIns="0" rIns="0" bIns="0" anchor="t">
            <a:noAutofit/>
          </a:bodyPr>
          <a:lstStyle/>
          <a:p>
            <a:pPr algn="l">
              <a:lnSpc>
                <a:spcPct val="118000"/>
              </a:lnSpc>
            </a:pPr>
            <a:r>
              <a:rPr sz="1200" b="0" i="0">
                <a:solidFill>
                  <a:srgbClr val="33514B"/>
                </a:solidFill>
                <a:latin typeface="IBM Plex Sans"/>
                <a:ea typeface="IBM Plex Sans"/>
                <a:cs typeface="IBM Plex Sans"/>
              </a:rPr>
              <a:t>Gemini 2.5-flash with automatic model fallback</a:t>
            </a:r>
          </a:p>
        </p:txBody>
      </p:sp>
      <p:sp>
        <p:nvSpPr>
          <p:cNvPr id="11" name="TextBox 10"/>
          <p:cNvSpPr txBox="1"/>
          <p:nvPr/>
        </p:nvSpPr>
        <p:spPr>
          <a:xfrm>
            <a:off x="1088136" y="3182112"/>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02</a:t>
            </a:r>
          </a:p>
        </p:txBody>
      </p:sp>
      <p:sp>
        <p:nvSpPr>
          <p:cNvPr id="12" name="TextBox 11"/>
          <p:cNvSpPr txBox="1"/>
          <p:nvPr/>
        </p:nvSpPr>
        <p:spPr>
          <a:xfrm>
            <a:off x="1417320" y="3163824"/>
            <a:ext cx="4023360" cy="438912"/>
          </a:xfrm>
          <a:prstGeom prst="rect">
            <a:avLst/>
          </a:prstGeom>
          <a:noFill/>
        </p:spPr>
        <p:txBody>
          <a:bodyPr wrap="square" lIns="0" tIns="0" rIns="0" bIns="0" anchor="t">
            <a:noAutofit/>
          </a:bodyPr>
          <a:lstStyle/>
          <a:p>
            <a:pPr algn="l">
              <a:lnSpc>
                <a:spcPct val="118000"/>
              </a:lnSpc>
            </a:pPr>
            <a:r>
              <a:rPr sz="1200" b="0" i="0">
                <a:solidFill>
                  <a:srgbClr val="33514B"/>
                </a:solidFill>
                <a:latin typeface="IBM Plex Sans"/>
                <a:ea typeface="IBM Plex Sans"/>
                <a:cs typeface="IBM Plex Sans"/>
              </a:rPr>
              <a:t>Structured output only — validated Pydantic objects</a:t>
            </a:r>
          </a:p>
        </p:txBody>
      </p:sp>
      <p:sp>
        <p:nvSpPr>
          <p:cNvPr id="13" name="TextBox 12"/>
          <p:cNvSpPr txBox="1"/>
          <p:nvPr/>
        </p:nvSpPr>
        <p:spPr>
          <a:xfrm>
            <a:off x="1088136" y="3730752"/>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03</a:t>
            </a:r>
          </a:p>
        </p:txBody>
      </p:sp>
      <p:sp>
        <p:nvSpPr>
          <p:cNvPr id="14" name="TextBox 13"/>
          <p:cNvSpPr txBox="1"/>
          <p:nvPr/>
        </p:nvSpPr>
        <p:spPr>
          <a:xfrm>
            <a:off x="1417320" y="3712464"/>
            <a:ext cx="4023360" cy="438912"/>
          </a:xfrm>
          <a:prstGeom prst="rect">
            <a:avLst/>
          </a:prstGeom>
          <a:noFill/>
        </p:spPr>
        <p:txBody>
          <a:bodyPr wrap="square" lIns="0" tIns="0" rIns="0" bIns="0" anchor="t">
            <a:noAutofit/>
          </a:bodyPr>
          <a:lstStyle/>
          <a:p>
            <a:pPr algn="l">
              <a:lnSpc>
                <a:spcPct val="118000"/>
              </a:lnSpc>
            </a:pPr>
            <a:r>
              <a:rPr sz="1200" b="0" i="0">
                <a:solidFill>
                  <a:srgbClr val="33514B"/>
                </a:solidFill>
                <a:latin typeface="IBM Plex Sans"/>
                <a:ea typeface="IBM Plex Sans"/>
                <a:cs typeface="IBM Plex Sans"/>
              </a:rPr>
              <a:t>Two calls per module — lessons &amp; tasks, then quiz</a:t>
            </a:r>
          </a:p>
        </p:txBody>
      </p:sp>
      <p:sp>
        <p:nvSpPr>
          <p:cNvPr id="15" name="TextBox 14"/>
          <p:cNvSpPr txBox="1"/>
          <p:nvPr/>
        </p:nvSpPr>
        <p:spPr>
          <a:xfrm>
            <a:off x="1088136" y="4279392"/>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04</a:t>
            </a:r>
          </a:p>
        </p:txBody>
      </p:sp>
      <p:sp>
        <p:nvSpPr>
          <p:cNvPr id="16" name="TextBox 15"/>
          <p:cNvSpPr txBox="1"/>
          <p:nvPr/>
        </p:nvSpPr>
        <p:spPr>
          <a:xfrm>
            <a:off x="1417320" y="4261104"/>
            <a:ext cx="4023360" cy="438912"/>
          </a:xfrm>
          <a:prstGeom prst="rect">
            <a:avLst/>
          </a:prstGeom>
          <a:noFill/>
        </p:spPr>
        <p:txBody>
          <a:bodyPr wrap="square" lIns="0" tIns="0" rIns="0" bIns="0" anchor="t">
            <a:noAutofit/>
          </a:bodyPr>
          <a:lstStyle/>
          <a:p>
            <a:pPr algn="l">
              <a:lnSpc>
                <a:spcPct val="118000"/>
              </a:lnSpc>
            </a:pPr>
            <a:r>
              <a:rPr sz="1200" b="0" i="0">
                <a:solidFill>
                  <a:srgbClr val="33514B"/>
                </a:solidFill>
                <a:latin typeface="IBM Plex Sans"/>
                <a:ea typeface="IBM Plex Sans"/>
                <a:cs typeface="IBM Plex Sans"/>
              </a:rPr>
              <a:t>Every claim grounded — unsourced quotes repaired or dropped</a:t>
            </a:r>
          </a:p>
        </p:txBody>
      </p:sp>
      <p:sp>
        <p:nvSpPr>
          <p:cNvPr id="17" name="TextBox 16"/>
          <p:cNvSpPr txBox="1"/>
          <p:nvPr/>
        </p:nvSpPr>
        <p:spPr>
          <a:xfrm>
            <a:off x="1088136" y="4828031"/>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05</a:t>
            </a:r>
          </a:p>
        </p:txBody>
      </p:sp>
      <p:sp>
        <p:nvSpPr>
          <p:cNvPr id="18" name="TextBox 17"/>
          <p:cNvSpPr txBox="1"/>
          <p:nvPr/>
        </p:nvSpPr>
        <p:spPr>
          <a:xfrm>
            <a:off x="1417320" y="4809744"/>
            <a:ext cx="4023360" cy="438912"/>
          </a:xfrm>
          <a:prstGeom prst="rect">
            <a:avLst/>
          </a:prstGeom>
          <a:noFill/>
        </p:spPr>
        <p:txBody>
          <a:bodyPr wrap="square" lIns="0" tIns="0" rIns="0" bIns="0" anchor="t">
            <a:noAutofit/>
          </a:bodyPr>
          <a:lstStyle/>
          <a:p>
            <a:pPr algn="l">
              <a:lnSpc>
                <a:spcPct val="118000"/>
              </a:lnSpc>
            </a:pPr>
            <a:r>
              <a:rPr sz="1200" b="0" i="0">
                <a:solidFill>
                  <a:srgbClr val="33514B"/>
                </a:solidFill>
                <a:latin typeface="IBM Plex Sans"/>
                <a:ea typeface="IBM Plex Sans"/>
                <a:cs typeface="IBM Plex Sans"/>
              </a:rPr>
              <a:t>Zero-AI fallback — a failed call becomes a rule-based draft</a:t>
            </a:r>
          </a:p>
        </p:txBody>
      </p:sp>
      <p:sp>
        <p:nvSpPr>
          <p:cNvPr id="19" name="Rounded Rectangle 18"/>
          <p:cNvSpPr/>
          <p:nvPr/>
        </p:nvSpPr>
        <p:spPr>
          <a:xfrm>
            <a:off x="6483096" y="1645920"/>
            <a:ext cx="4892040" cy="3877056"/>
          </a:xfrm>
          <a:prstGeom prst="roundRect">
            <a:avLst>
              <a:gd name="adj" fmla="val 4200"/>
            </a:avLst>
          </a:prstGeom>
          <a:solidFill>
            <a:srgbClr val="FFFFFF"/>
          </a:solidFill>
          <a:ln w="9525">
            <a:solidFill>
              <a:srgbClr val="E2E4E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6757416" y="1883664"/>
            <a:ext cx="4023360" cy="182880"/>
          </a:xfrm>
          <a:prstGeom prst="rect">
            <a:avLst/>
          </a:prstGeom>
          <a:noFill/>
        </p:spPr>
        <p:txBody>
          <a:bodyPr wrap="square" lIns="0" tIns="0" rIns="0" bIns="0" anchor="t">
            <a:noAutofit/>
          </a:bodyPr>
          <a:lstStyle/>
          <a:p>
            <a:pPr algn="l"/>
            <a:r>
              <a:rPr sz="900" b="0" i="0" spc="110">
                <a:solidFill>
                  <a:srgbClr val="1C9C8A"/>
                </a:solidFill>
                <a:latin typeface="JetBrains Mono"/>
                <a:ea typeface="JetBrains Mono"/>
                <a:cs typeface="JetBrains Mono"/>
              </a:rPr>
              <a:t>PIPELINE 2 · PYTHON</a:t>
            </a:r>
          </a:p>
        </p:txBody>
      </p:sp>
      <p:sp>
        <p:nvSpPr>
          <p:cNvPr id="21" name="TextBox 20"/>
          <p:cNvSpPr txBox="1"/>
          <p:nvPr/>
        </p:nvSpPr>
        <p:spPr>
          <a:xfrm>
            <a:off x="6757416" y="2103120"/>
            <a:ext cx="4206240" cy="310896"/>
          </a:xfrm>
          <a:prstGeom prst="rect">
            <a:avLst/>
          </a:prstGeom>
          <a:noFill/>
        </p:spPr>
        <p:txBody>
          <a:bodyPr wrap="square" lIns="0" tIns="0" rIns="0" bIns="0" anchor="t">
            <a:noAutofit/>
          </a:bodyPr>
          <a:lstStyle/>
          <a:p>
            <a:pPr algn="l"/>
            <a:r>
              <a:rPr sz="1800" b="1" i="0">
                <a:solidFill>
                  <a:srgbClr val="141A2B"/>
                </a:solidFill>
                <a:latin typeface="IBM Plex Sans"/>
                <a:ea typeface="IBM Plex Sans"/>
                <a:cs typeface="IBM Plex Sans"/>
              </a:rPr>
              <a:t>The deterministic verifier</a:t>
            </a:r>
          </a:p>
        </p:txBody>
      </p:sp>
      <p:sp>
        <p:nvSpPr>
          <p:cNvPr id="22" name="Rectangle 21"/>
          <p:cNvSpPr/>
          <p:nvPr/>
        </p:nvSpPr>
        <p:spPr>
          <a:xfrm>
            <a:off x="6757416" y="2505456"/>
            <a:ext cx="4343400" cy="9144"/>
          </a:xfrm>
          <a:prstGeom prst="rect">
            <a:avLst/>
          </a:prstGeom>
          <a:solidFill>
            <a:srgbClr val="E2E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57416" y="2633472"/>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01</a:t>
            </a:r>
          </a:p>
        </p:txBody>
      </p:sp>
      <p:sp>
        <p:nvSpPr>
          <p:cNvPr id="24" name="TextBox 23"/>
          <p:cNvSpPr txBox="1"/>
          <p:nvPr/>
        </p:nvSpPr>
        <p:spPr>
          <a:xfrm>
            <a:off x="7086600" y="2615184"/>
            <a:ext cx="4023360" cy="438912"/>
          </a:xfrm>
          <a:prstGeom prst="rect">
            <a:avLst/>
          </a:prstGeom>
          <a:noFill/>
        </p:spPr>
        <p:txBody>
          <a:bodyPr wrap="square" lIns="0" tIns="0" rIns="0" bIns="0" anchor="t">
            <a:noAutofit/>
          </a:bodyPr>
          <a:lstStyle/>
          <a:p>
            <a:pPr algn="l">
              <a:lnSpc>
                <a:spcPct val="118000"/>
              </a:lnSpc>
            </a:pPr>
            <a:r>
              <a:rPr sz="1200" b="0" i="0">
                <a:solidFill>
                  <a:srgbClr val="4A5568"/>
                </a:solidFill>
                <a:latin typeface="IBM Plex Sans"/>
                <a:ea typeface="IBM Plex Sans"/>
                <a:cs typeface="IBM Plex Sans"/>
              </a:rPr>
              <a:t>Zero AI SDK imports — nothing here can hallucinate</a:t>
            </a:r>
          </a:p>
        </p:txBody>
      </p:sp>
      <p:sp>
        <p:nvSpPr>
          <p:cNvPr id="25" name="TextBox 24"/>
          <p:cNvSpPr txBox="1"/>
          <p:nvPr/>
        </p:nvSpPr>
        <p:spPr>
          <a:xfrm>
            <a:off x="6757416" y="3182112"/>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02</a:t>
            </a:r>
          </a:p>
        </p:txBody>
      </p:sp>
      <p:sp>
        <p:nvSpPr>
          <p:cNvPr id="26" name="TextBox 25"/>
          <p:cNvSpPr txBox="1"/>
          <p:nvPr/>
        </p:nvSpPr>
        <p:spPr>
          <a:xfrm>
            <a:off x="7086600" y="3163824"/>
            <a:ext cx="4023360" cy="438912"/>
          </a:xfrm>
          <a:prstGeom prst="rect">
            <a:avLst/>
          </a:prstGeom>
          <a:noFill/>
        </p:spPr>
        <p:txBody>
          <a:bodyPr wrap="square" lIns="0" tIns="0" rIns="0" bIns="0" anchor="t">
            <a:noAutofit/>
          </a:bodyPr>
          <a:lstStyle/>
          <a:p>
            <a:pPr algn="l">
              <a:lnSpc>
                <a:spcPct val="118000"/>
              </a:lnSpc>
            </a:pPr>
            <a:r>
              <a:rPr sz="1200" b="0" i="0">
                <a:solidFill>
                  <a:srgbClr val="4A5568"/>
                </a:solidFill>
                <a:latin typeface="IBM Plex Sans"/>
                <a:ea typeface="IBM Plex Sans"/>
                <a:cs typeface="IBM Plex Sans"/>
              </a:rPr>
              <a:t>Role Requirement Matrix — 203 requirements across 10 roles</a:t>
            </a:r>
          </a:p>
        </p:txBody>
      </p:sp>
      <p:sp>
        <p:nvSpPr>
          <p:cNvPr id="27" name="TextBox 26"/>
          <p:cNvSpPr txBox="1"/>
          <p:nvPr/>
        </p:nvSpPr>
        <p:spPr>
          <a:xfrm>
            <a:off x="6757416" y="3730752"/>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03</a:t>
            </a:r>
          </a:p>
        </p:txBody>
      </p:sp>
      <p:sp>
        <p:nvSpPr>
          <p:cNvPr id="28" name="TextBox 27"/>
          <p:cNvSpPr txBox="1"/>
          <p:nvPr/>
        </p:nvSpPr>
        <p:spPr>
          <a:xfrm>
            <a:off x="7086600" y="3712464"/>
            <a:ext cx="4023360" cy="438912"/>
          </a:xfrm>
          <a:prstGeom prst="rect">
            <a:avLst/>
          </a:prstGeom>
          <a:noFill/>
        </p:spPr>
        <p:txBody>
          <a:bodyPr wrap="square" lIns="0" tIns="0" rIns="0" bIns="0" anchor="t">
            <a:noAutofit/>
          </a:bodyPr>
          <a:lstStyle/>
          <a:p>
            <a:pPr algn="l">
              <a:lnSpc>
                <a:spcPct val="118000"/>
              </a:lnSpc>
            </a:pPr>
            <a:r>
              <a:rPr sz="1200" b="0" i="0">
                <a:solidFill>
                  <a:srgbClr val="4A5568"/>
                </a:solidFill>
                <a:latin typeface="IBM Plex Sans"/>
                <a:ea typeface="IBM Plex Sans"/>
                <a:cs typeface="IBM Plex Sans"/>
              </a:rPr>
              <a:t>Coverage = covered ÷ total mandatory requirements</a:t>
            </a:r>
          </a:p>
        </p:txBody>
      </p:sp>
      <p:sp>
        <p:nvSpPr>
          <p:cNvPr id="29" name="TextBox 28"/>
          <p:cNvSpPr txBox="1"/>
          <p:nvPr/>
        </p:nvSpPr>
        <p:spPr>
          <a:xfrm>
            <a:off x="6757416" y="4279392"/>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04</a:t>
            </a:r>
          </a:p>
        </p:txBody>
      </p:sp>
      <p:sp>
        <p:nvSpPr>
          <p:cNvPr id="30" name="TextBox 29"/>
          <p:cNvSpPr txBox="1"/>
          <p:nvPr/>
        </p:nvSpPr>
        <p:spPr>
          <a:xfrm>
            <a:off x="7086600" y="4261104"/>
            <a:ext cx="4023360" cy="438912"/>
          </a:xfrm>
          <a:prstGeom prst="rect">
            <a:avLst/>
          </a:prstGeom>
          <a:noFill/>
        </p:spPr>
        <p:txBody>
          <a:bodyPr wrap="square" lIns="0" tIns="0" rIns="0" bIns="0" anchor="t">
            <a:noAutofit/>
          </a:bodyPr>
          <a:lstStyle/>
          <a:p>
            <a:pPr algn="l">
              <a:lnSpc>
                <a:spcPct val="118000"/>
              </a:lnSpc>
            </a:pPr>
            <a:r>
              <a:rPr sz="1200" b="0" i="0">
                <a:solidFill>
                  <a:srgbClr val="4A5568"/>
                </a:solidFill>
                <a:latin typeface="IBM Plex Sans"/>
                <a:ea typeface="IBM Plex Sans"/>
                <a:cs typeface="IBM Plex Sans"/>
              </a:rPr>
              <a:t>Prerequisite enforcement — foundations before advanced tasks</a:t>
            </a:r>
          </a:p>
        </p:txBody>
      </p:sp>
      <p:sp>
        <p:nvSpPr>
          <p:cNvPr id="31" name="TextBox 30"/>
          <p:cNvSpPr txBox="1"/>
          <p:nvPr/>
        </p:nvSpPr>
        <p:spPr>
          <a:xfrm>
            <a:off x="6757416" y="4828031"/>
            <a:ext cx="310896" cy="219456"/>
          </a:xfrm>
          <a:prstGeom prst="rect">
            <a:avLst/>
          </a:prstGeom>
          <a:noFill/>
        </p:spPr>
        <p:txBody>
          <a:bodyPr wrap="square" lIns="0" tIns="0" rIns="0" bIns="0" anchor="t">
            <a:noAutofit/>
          </a:bodyPr>
          <a:lstStyle/>
          <a:p>
            <a:pPr algn="l"/>
            <a:r>
              <a:rPr sz="950" b="0" i="0" spc="40">
                <a:solidFill>
                  <a:srgbClr val="1C9C8A"/>
                </a:solidFill>
                <a:latin typeface="JetBrains Mono"/>
                <a:ea typeface="JetBrains Mono"/>
                <a:cs typeface="JetBrains Mono"/>
              </a:rPr>
              <a:t>05</a:t>
            </a:r>
          </a:p>
        </p:txBody>
      </p:sp>
      <p:sp>
        <p:nvSpPr>
          <p:cNvPr id="32" name="TextBox 31"/>
          <p:cNvSpPr txBox="1"/>
          <p:nvPr/>
        </p:nvSpPr>
        <p:spPr>
          <a:xfrm>
            <a:off x="7086600" y="4809744"/>
            <a:ext cx="4023360" cy="438912"/>
          </a:xfrm>
          <a:prstGeom prst="rect">
            <a:avLst/>
          </a:prstGeom>
          <a:noFill/>
        </p:spPr>
        <p:txBody>
          <a:bodyPr wrap="square" lIns="0" tIns="0" rIns="0" bIns="0" anchor="t">
            <a:noAutofit/>
          </a:bodyPr>
          <a:lstStyle/>
          <a:p>
            <a:pPr algn="l">
              <a:lnSpc>
                <a:spcPct val="118000"/>
              </a:lnSpc>
            </a:pPr>
            <a:r>
              <a:rPr sz="1200" b="0" i="0">
                <a:solidFill>
                  <a:srgbClr val="4A5568"/>
                </a:solidFill>
                <a:latin typeface="IBM Plex Sans"/>
                <a:ea typeface="IBM Plex Sans"/>
                <a:cs typeface="IBM Plex Sans"/>
              </a:rPr>
              <a:t>The independent verdict — Pipeline 1 is checked field by field</a:t>
            </a:r>
          </a:p>
        </p:txBody>
      </p:sp>
      <p:pic>
        <p:nvPicPr>
          <p:cNvPr id="33" name="Picture 32" descr="image5.png"/>
          <p:cNvPicPr>
            <a:picLocks noChangeAspect="1"/>
          </p:cNvPicPr>
          <p:nvPr/>
        </p:nvPicPr>
        <p:blipFill>
          <a:blip r:embed="rId3"/>
          <a:stretch>
            <a:fillRect/>
          </a:stretch>
        </p:blipFill>
        <p:spPr>
          <a:xfrm>
            <a:off x="5870448" y="3483864"/>
            <a:ext cx="402336" cy="201168"/>
          </a:xfrm>
          <a:prstGeom prst="rect">
            <a:avLst/>
          </a:prstGeom>
        </p:spPr>
      </p:pic>
      <p:sp>
        <p:nvSpPr>
          <p:cNvPr id="34" name="Rounded Rectangle 33"/>
          <p:cNvSpPr/>
          <p:nvPr/>
        </p:nvSpPr>
        <p:spPr>
          <a:xfrm>
            <a:off x="813816" y="5650992"/>
            <a:ext cx="10561320" cy="438912"/>
          </a:xfrm>
          <a:prstGeom prst="roundRect">
            <a:avLst>
              <a:gd name="adj" fmla="val 22000"/>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5" name="TextBox 34"/>
          <p:cNvSpPr txBox="1"/>
          <p:nvPr/>
        </p:nvSpPr>
        <p:spPr>
          <a:xfrm>
            <a:off x="1033271" y="5742432"/>
            <a:ext cx="3291840" cy="256032"/>
          </a:xfrm>
          <a:prstGeom prst="rect">
            <a:avLst/>
          </a:prstGeom>
          <a:noFill/>
        </p:spPr>
        <p:txBody>
          <a:bodyPr wrap="square" lIns="0" tIns="0" rIns="0" bIns="0" anchor="t">
            <a:noAutofit/>
          </a:bodyPr>
          <a:lstStyle/>
          <a:p>
            <a:pPr algn="l"/>
            <a:r>
              <a:rPr sz="900" b="0" i="0" spc="100">
                <a:solidFill>
                  <a:srgbClr val="6FD9C8"/>
                </a:solidFill>
                <a:latin typeface="JetBrains Mono"/>
                <a:ea typeface="JetBrains Mono"/>
                <a:cs typeface="JetBrains Mono"/>
              </a:rPr>
              <a:t>THE COMPARATOR IS THE ONLY GATE</a:t>
            </a:r>
          </a:p>
        </p:txBody>
      </p:sp>
      <p:sp>
        <p:nvSpPr>
          <p:cNvPr id="36" name="TextBox 35"/>
          <p:cNvSpPr txBox="1"/>
          <p:nvPr/>
        </p:nvSpPr>
        <p:spPr>
          <a:xfrm>
            <a:off x="4206240" y="5760720"/>
            <a:ext cx="6949440" cy="256032"/>
          </a:xfrm>
          <a:prstGeom prst="rect">
            <a:avLst/>
          </a:prstGeom>
          <a:noFill/>
        </p:spPr>
        <p:txBody>
          <a:bodyPr wrap="square" lIns="0" tIns="0" rIns="0" bIns="0" anchor="t">
            <a:noAutofit/>
          </a:bodyPr>
          <a:lstStyle/>
          <a:p>
            <a:pPr algn="r"/>
            <a:r>
              <a:rPr sz="1100" b="0" i="0">
                <a:solidFill>
                  <a:srgbClr val="C7CCD8"/>
                </a:solidFill>
                <a:latin typeface="IBM Plex Sans"/>
                <a:ea typeface="IBM Plex Sans"/>
                <a:cs typeface="IBM Plex Sans"/>
              </a:rPr>
              <a:t>Nothing publishes unless Pipeline 1 and Pipeline 2 agree.</a:t>
            </a:r>
          </a:p>
        </p:txBody>
      </p:sp>
      <p:sp>
        <p:nvSpPr>
          <p:cNvPr id="37" name="TextBox 36"/>
          <p:cNvSpPr txBox="1"/>
          <p:nvPr/>
        </p:nvSpPr>
        <p:spPr>
          <a:xfrm>
            <a:off x="813816" y="6336792"/>
            <a:ext cx="2926080" cy="201168"/>
          </a:xfrm>
          <a:prstGeom prst="rect">
            <a:avLst/>
          </a:prstGeom>
          <a:noFill/>
        </p:spPr>
        <p:txBody>
          <a:bodyPr wrap="square" lIns="0" tIns="0" rIns="0" bIns="0" anchor="t">
            <a:noAutofit/>
          </a:bodyPr>
          <a:lstStyle/>
          <a:p>
            <a:pPr algn="l"/>
            <a:r>
              <a:rPr sz="1000" b="0" i="0" spc="40">
                <a:solidFill>
                  <a:srgbClr val="9099A6"/>
                </a:solidFill>
                <a:latin typeface="JetBrains Mono"/>
                <a:ea typeface="JetBrains Mono"/>
                <a:cs typeface="JetBrains Mono"/>
              </a:rPr>
              <a:t>SkillSprint AI</a:t>
            </a:r>
          </a:p>
        </p:txBody>
      </p:sp>
      <p:sp>
        <p:nvSpPr>
          <p:cNvPr id="38" name="TextBox 37"/>
          <p:cNvSpPr txBox="1"/>
          <p:nvPr/>
        </p:nvSpPr>
        <p:spPr>
          <a:xfrm>
            <a:off x="9875520" y="6336792"/>
            <a:ext cx="1508760" cy="201168"/>
          </a:xfrm>
          <a:prstGeom prst="rect">
            <a:avLst/>
          </a:prstGeom>
          <a:noFill/>
        </p:spPr>
        <p:txBody>
          <a:bodyPr wrap="square" lIns="0" tIns="0" rIns="0" bIns="0" anchor="t">
            <a:noAutofit/>
          </a:bodyPr>
          <a:lstStyle/>
          <a:p>
            <a:pPr algn="r"/>
            <a:r>
              <a:rPr sz="1000" b="0" i="0" spc="40">
                <a:solidFill>
                  <a:srgbClr val="9099A6"/>
                </a:solidFill>
                <a:latin typeface="JetBrains Mono"/>
                <a:ea typeface="JetBrains Mono"/>
                <a:cs typeface="JetBrains Mono"/>
              </a:rPr>
              <a:t>03 / 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731520"/>
            <a:ext cx="9966960" cy="420624"/>
          </a:xfrm>
        </p:spPr>
        <p:txBody>
          <a:bodyPr wrap="square" lIns="0" tIns="0" rIns="0" bIns="0" anchor="t">
            <a:noAutofit/>
          </a:bodyPr>
          <a:lstStyle/>
          <a:p>
            <a:pPr algn="l">
              <a:lnSpc>
                <a:spcPct val="100000"/>
              </a:lnSpc>
            </a:pPr>
            <a:r>
              <a:rPr sz="3000" b="1">
                <a:solidFill>
                  <a:srgbClr val="141A2B"/>
                </a:solidFill>
                <a:latin typeface="IBM Plex Sans"/>
                <a:ea typeface="IBM Plex Sans"/>
                <a:cs typeface="IBM Plex Sans"/>
              </a:rPr>
              <a:t>Field-by-Field, Not Pass / Fail</a:t>
            </a:r>
          </a:p>
        </p:txBody>
      </p:sp>
      <p:sp>
        <p:nvSpPr>
          <p:cNvPr id="3" name="TextBox 2"/>
          <p:cNvSpPr txBox="1"/>
          <p:nvPr/>
        </p:nvSpPr>
        <p:spPr>
          <a:xfrm>
            <a:off x="813816" y="475488"/>
            <a:ext cx="7315200" cy="201168"/>
          </a:xfrm>
          <a:prstGeom prst="rect">
            <a:avLst/>
          </a:prstGeom>
          <a:noFill/>
        </p:spPr>
        <p:txBody>
          <a:bodyPr wrap="square" lIns="0" tIns="0" rIns="0" bIns="0" anchor="t">
            <a:noAutofit/>
          </a:bodyPr>
          <a:lstStyle/>
          <a:p>
            <a:pPr algn="l"/>
            <a:r>
              <a:rPr sz="1000" b="0" i="0" spc="120">
                <a:solidFill>
                  <a:srgbClr val="1C9C8A"/>
                </a:solidFill>
                <a:latin typeface="JetBrains Mono"/>
                <a:ea typeface="JetBrains Mono"/>
                <a:cs typeface="JetBrains Mono"/>
              </a:rPr>
              <a:t>PROOF IT WORKS</a:t>
            </a:r>
          </a:p>
        </p:txBody>
      </p:sp>
      <p:sp>
        <p:nvSpPr>
          <p:cNvPr id="4" name="TextBox 3"/>
          <p:cNvSpPr txBox="1"/>
          <p:nvPr/>
        </p:nvSpPr>
        <p:spPr>
          <a:xfrm>
            <a:off x="813816" y="1225296"/>
            <a:ext cx="10424160" cy="219456"/>
          </a:xfrm>
          <a:prstGeom prst="rect">
            <a:avLst/>
          </a:prstGeom>
          <a:noFill/>
        </p:spPr>
        <p:txBody>
          <a:bodyPr wrap="square" lIns="0" tIns="0" rIns="0" bIns="0" anchor="t">
            <a:noAutofit/>
          </a:bodyPr>
          <a:lstStyle/>
          <a:p>
            <a:pPr algn="l"/>
            <a:r>
              <a:rPr sz="1200" b="0" i="0">
                <a:solidFill>
                  <a:srgbClr val="4A5568"/>
                </a:solidFill>
                <a:latin typeface="IBM Plex Sans"/>
                <a:ea typeface="IBM Plex Sans"/>
                <a:cs typeface="IBM Plex Sans"/>
              </a:rPr>
              <a:t>R054, a mandatory MFA policy: five of six fields agree. One does not — and the system catches it.</a:t>
            </a:r>
          </a:p>
        </p:txBody>
      </p:sp>
      <p:graphicFrame>
        <p:nvGraphicFramePr>
          <p:cNvPr id="5" name="Table 4"/>
          <p:cNvGraphicFramePr>
            <a:graphicFrameLocks noGrp="1"/>
          </p:cNvGraphicFramePr>
          <p:nvPr/>
        </p:nvGraphicFramePr>
        <p:xfrm>
          <a:off x="813816" y="1700784"/>
          <a:ext cx="6675120" cy="2743200"/>
        </p:xfrm>
        <a:graphic>
          <a:graphicData uri="http://schemas.openxmlformats.org/drawingml/2006/table">
            <a:tbl>
              <a:tblPr>
                <a:tableStyleId>{5C22544A-7EE6-4342-B048-85BDC9FD1C3A}</a:tableStyleId>
              </a:tblPr>
              <a:tblGrid>
                <a:gridCol w="16916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457200">
                <a:tc>
                  <a:txBody>
                    <a:bodyPr/>
                    <a:lstStyle/>
                    <a:p>
                      <a:pPr algn="l"/>
                      <a:r>
                        <a:rPr sz="1050" b="1">
                          <a:solidFill>
                            <a:srgbClr val="FFFFFF"/>
                          </a:solidFill>
                          <a:latin typeface="IBM Plex Sans"/>
                          <a:ea typeface="IBM Plex Sans"/>
                          <a:cs typeface="IBM Plex Sans"/>
                        </a:rPr>
                        <a:t>Field</a:t>
                      </a:r>
                    </a:p>
                  </a:txBody>
                  <a:tcPr marR="54864" marT="18288" marB="18288" anchor="ctr">
                    <a:solidFill>
                      <a:srgbClr val="141A2B"/>
                    </a:solidFill>
                  </a:tcPr>
                </a:tc>
                <a:tc>
                  <a:txBody>
                    <a:bodyPr/>
                    <a:lstStyle/>
                    <a:p>
                      <a:pPr algn="l"/>
                      <a:r>
                        <a:rPr sz="1050" b="1">
                          <a:solidFill>
                            <a:srgbClr val="FFFFFF"/>
                          </a:solidFill>
                          <a:latin typeface="IBM Plex Sans"/>
                          <a:ea typeface="IBM Plex Sans"/>
                          <a:cs typeface="IBM Plex Sans"/>
                        </a:rPr>
                        <a:t>Pipeline 1 · GenAI</a:t>
                      </a:r>
                    </a:p>
                  </a:txBody>
                  <a:tcPr marR="54864" marT="18288" marB="18288" anchor="ctr">
                    <a:solidFill>
                      <a:srgbClr val="141A2B"/>
                    </a:solidFill>
                  </a:tcPr>
                </a:tc>
                <a:tc>
                  <a:txBody>
                    <a:bodyPr/>
                    <a:lstStyle/>
                    <a:p>
                      <a:pPr algn="l"/>
                      <a:r>
                        <a:rPr sz="1050" b="1">
                          <a:solidFill>
                            <a:srgbClr val="FFFFFF"/>
                          </a:solidFill>
                          <a:latin typeface="IBM Plex Sans"/>
                          <a:ea typeface="IBM Plex Sans"/>
                          <a:cs typeface="IBM Plex Sans"/>
                        </a:rPr>
                        <a:t>Pipeline 2 · Python</a:t>
                      </a:r>
                    </a:p>
                  </a:txBody>
                  <a:tcPr marR="54864" marT="18288" marB="18288" anchor="ctr">
                    <a:solidFill>
                      <a:srgbClr val="141A2B"/>
                    </a:solidFill>
                  </a:tcPr>
                </a:tc>
                <a:tc>
                  <a:txBody>
                    <a:bodyPr/>
                    <a:lstStyle/>
                    <a:p>
                      <a:pPr algn="l"/>
                      <a:r>
                        <a:rPr sz="1050" b="1">
                          <a:solidFill>
                            <a:srgbClr val="FFFFFF"/>
                          </a:solidFill>
                          <a:latin typeface="IBM Plex Sans"/>
                          <a:ea typeface="IBM Plex Sans"/>
                          <a:cs typeface="IBM Plex Sans"/>
                        </a:rPr>
                        <a:t>Result</a:t>
                      </a:r>
                    </a:p>
                  </a:txBody>
                  <a:tcPr marR="54864" marT="18288" marB="18288" anchor="ctr">
                    <a:solidFill>
                      <a:srgbClr val="141A2B"/>
                    </a:solidFill>
                  </a:tcPr>
                </a:tc>
                <a:extLst>
                  <a:ext uri="{0D108BD9-81ED-4DB2-BD59-A6C34878D82A}">
                    <a16:rowId xmlns:a16="http://schemas.microsoft.com/office/drawing/2014/main" val="10000"/>
                  </a:ext>
                </a:extLst>
              </a:tr>
              <a:tr h="457200">
                <a:tc>
                  <a:txBody>
                    <a:bodyPr/>
                    <a:lstStyle/>
                    <a:p>
                      <a:pPr algn="l"/>
                      <a:r>
                        <a:rPr sz="1050" b="1">
                          <a:solidFill>
                            <a:srgbClr val="141A2B"/>
                          </a:solidFill>
                          <a:latin typeface="IBM Plex Sans"/>
                          <a:ea typeface="IBM Plex Sans"/>
                          <a:cs typeface="IBM Plex Sans"/>
                        </a:rPr>
                        <a:t>Taught (lessons)</a:t>
                      </a:r>
                    </a:p>
                  </a:txBody>
                  <a:tcPr marR="54864" marT="18288" marB="18288" anchor="ctr">
                    <a:lnL w="9525" cap="flat" cmpd="sng" algn="ctr">
                      <a:solidFill>
                        <a:srgbClr val="E2E4E0"/>
                      </a:solidFill>
                    </a:lnL>
                    <a:lnR w="9525" cap="flat" cmpd="sng" algn="ctr">
                      <a:solidFill>
                        <a:srgbClr val="E2E4E0"/>
                      </a:solidFill>
                    </a:lnR>
                    <a:lnB w="9525" cap="flat" cmpd="sng" algn="ctr">
                      <a:solidFill>
                        <a:srgbClr val="E2E4E0"/>
                      </a:solidFill>
                    </a:lnB>
                    <a:solidFill>
                      <a:srgbClr val="FFFFFF"/>
                    </a:solidFill>
                  </a:tcPr>
                </a:tc>
                <a:tc>
                  <a:txBody>
                    <a:bodyPr/>
                    <a:lstStyle/>
                    <a:p>
                      <a:pPr algn="l"/>
                      <a:r>
                        <a:rPr sz="1050" b="0">
                          <a:solidFill>
                            <a:srgbClr val="4A5568"/>
                          </a:solidFill>
                          <a:latin typeface="IBM Plex Sans"/>
                          <a:ea typeface="IBM Plex Sans"/>
                          <a:cs typeface="IBM Plex Sans"/>
                        </a:rPr>
                        <a:t>1</a:t>
                      </a:r>
                    </a:p>
                  </a:txBody>
                  <a:tcPr marR="54864" marT="18288" marB="18288" anchor="ctr">
                    <a:lnL w="9525" cap="flat" cmpd="sng" algn="ctr">
                      <a:solidFill>
                        <a:srgbClr val="E2E4E0"/>
                      </a:solidFill>
                    </a:lnL>
                    <a:lnR w="9525" cap="flat" cmpd="sng" algn="ctr">
                      <a:solidFill>
                        <a:srgbClr val="E2E4E0"/>
                      </a:solidFill>
                    </a:lnR>
                    <a:lnB w="9525" cap="flat" cmpd="sng" algn="ctr">
                      <a:solidFill>
                        <a:srgbClr val="E2E4E0"/>
                      </a:solidFill>
                    </a:lnB>
                    <a:solidFill>
                      <a:srgbClr val="FFFFFF"/>
                    </a:solidFill>
                  </a:tcPr>
                </a:tc>
                <a:tc>
                  <a:txBody>
                    <a:bodyPr/>
                    <a:lstStyle/>
                    <a:p>
                      <a:pPr algn="l"/>
                      <a:r>
                        <a:rPr sz="1050" b="0">
                          <a:solidFill>
                            <a:srgbClr val="4A5568"/>
                          </a:solidFill>
                          <a:latin typeface="IBM Plex Sans"/>
                          <a:ea typeface="IBM Plex Sans"/>
                          <a:cs typeface="IBM Plex Sans"/>
                        </a:rPr>
                        <a:t>mandatory</a:t>
                      </a:r>
                    </a:p>
                  </a:txBody>
                  <a:tcPr marR="54864" marT="18288" marB="18288" anchor="ctr">
                    <a:lnL w="9525" cap="flat" cmpd="sng" algn="ctr">
                      <a:solidFill>
                        <a:srgbClr val="E2E4E0"/>
                      </a:solidFill>
                    </a:lnL>
                    <a:lnR w="9525" cap="flat" cmpd="sng" algn="ctr">
                      <a:solidFill>
                        <a:srgbClr val="E2E4E0"/>
                      </a:solidFill>
                    </a:lnR>
                    <a:lnB w="9525" cap="flat" cmpd="sng" algn="ctr">
                      <a:solidFill>
                        <a:srgbClr val="E2E4E0"/>
                      </a:solidFill>
                    </a:lnB>
                    <a:solidFill>
                      <a:srgbClr val="FFFFFF"/>
                    </a:solidFill>
                  </a:tcPr>
                </a:tc>
                <a:tc>
                  <a:txBody>
                    <a:bodyPr/>
                    <a:lstStyle/>
                    <a:p>
                      <a:pPr algn="l"/>
                      <a:r>
                        <a:rPr sz="1050" b="1">
                          <a:solidFill>
                            <a:srgbClr val="0F6358"/>
                          </a:solidFill>
                          <a:latin typeface="IBM Plex Sans"/>
                          <a:ea typeface="IBM Plex Sans"/>
                          <a:cs typeface="IBM Plex Sans"/>
                        </a:rPr>
                        <a:t>Match</a:t>
                      </a:r>
                    </a:p>
                  </a:txBody>
                  <a:tcPr marR="54864" marT="18288" marB="18288" anchor="ctr">
                    <a:lnL w="9525" cap="flat" cmpd="sng" algn="ctr">
                      <a:solidFill>
                        <a:srgbClr val="E2E4E0"/>
                      </a:solidFill>
                    </a:lnL>
                    <a:lnR w="9525" cap="flat" cmpd="sng" algn="ctr">
                      <a:solidFill>
                        <a:srgbClr val="E2E4E0"/>
                      </a:solidFill>
                    </a:lnR>
                    <a:lnB w="9525" cap="flat" cmpd="sng" algn="ctr">
                      <a:solidFill>
                        <a:srgbClr val="E2E4E0"/>
                      </a:solidFill>
                    </a:lnB>
                    <a:solidFill>
                      <a:srgbClr val="FFFFFF"/>
                    </a:solidFill>
                  </a:tcPr>
                </a:tc>
                <a:extLst>
                  <a:ext uri="{0D108BD9-81ED-4DB2-BD59-A6C34878D82A}">
                    <a16:rowId xmlns:a16="http://schemas.microsoft.com/office/drawing/2014/main" val="10001"/>
                  </a:ext>
                </a:extLst>
              </a:tr>
              <a:tr h="457200">
                <a:tc>
                  <a:txBody>
                    <a:bodyPr/>
                    <a:lstStyle/>
                    <a:p>
                      <a:pPr algn="l"/>
                      <a:r>
                        <a:rPr sz="1050" b="1">
                          <a:solidFill>
                            <a:srgbClr val="141A2B"/>
                          </a:solidFill>
                          <a:latin typeface="IBM Plex Sans"/>
                          <a:ea typeface="IBM Plex Sans"/>
                          <a:cs typeface="IBM Plex Sans"/>
                        </a:rPr>
                        <a:t>Due stage</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0">
                          <a:solidFill>
                            <a:srgbClr val="4A5568"/>
                          </a:solidFill>
                          <a:latin typeface="IBM Plex Sans"/>
                          <a:ea typeface="IBM Plex Sans"/>
                          <a:cs typeface="IBM Plex Sans"/>
                        </a:rPr>
                        <a:t>Week 1</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0">
                          <a:solidFill>
                            <a:srgbClr val="4A5568"/>
                          </a:solidFill>
                          <a:latin typeface="IBM Plex Sans"/>
                          <a:ea typeface="IBM Plex Sans"/>
                          <a:cs typeface="IBM Plex Sans"/>
                        </a:rPr>
                        <a:t>Week 1</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1">
                          <a:solidFill>
                            <a:srgbClr val="0F6358"/>
                          </a:solidFill>
                          <a:latin typeface="IBM Plex Sans"/>
                          <a:ea typeface="IBM Plex Sans"/>
                          <a:cs typeface="IBM Plex Sans"/>
                        </a:rPr>
                        <a:t>Match</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extLst>
                  <a:ext uri="{0D108BD9-81ED-4DB2-BD59-A6C34878D82A}">
                    <a16:rowId xmlns:a16="http://schemas.microsoft.com/office/drawing/2014/main" val="10002"/>
                  </a:ext>
                </a:extLst>
              </a:tr>
              <a:tr h="457200">
                <a:tc>
                  <a:txBody>
                    <a:bodyPr/>
                    <a:lstStyle/>
                    <a:p>
                      <a:pPr algn="l"/>
                      <a:r>
                        <a:rPr sz="1050" b="1">
                          <a:solidFill>
                            <a:srgbClr val="141A2B"/>
                          </a:solidFill>
                          <a:latin typeface="IBM Plex Sans"/>
                          <a:ea typeface="IBM Plex Sans"/>
                          <a:cs typeface="IBM Plex Sans"/>
                        </a:rPr>
                        <a:t>Assessed</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BE9D0"/>
                    </a:solidFill>
                  </a:tcPr>
                </a:tc>
                <a:tc>
                  <a:txBody>
                    <a:bodyPr/>
                    <a:lstStyle/>
                    <a:p>
                      <a:pPr algn="l"/>
                      <a:r>
                        <a:rPr sz="1050" b="0">
                          <a:solidFill>
                            <a:srgbClr val="4A5568"/>
                          </a:solidFill>
                          <a:latin typeface="IBM Plex Sans"/>
                          <a:ea typeface="IBM Plex Sans"/>
                          <a:cs typeface="IBM Plex Sans"/>
                        </a:rPr>
                        <a:t>No</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BE9D0"/>
                    </a:solidFill>
                  </a:tcPr>
                </a:tc>
                <a:tc>
                  <a:txBody>
                    <a:bodyPr/>
                    <a:lstStyle/>
                    <a:p>
                      <a:pPr algn="l"/>
                      <a:r>
                        <a:rPr sz="1050" b="0">
                          <a:solidFill>
                            <a:srgbClr val="4A5568"/>
                          </a:solidFill>
                          <a:latin typeface="IBM Plex Sans"/>
                          <a:ea typeface="IBM Plex Sans"/>
                          <a:cs typeface="IBM Plex Sans"/>
                        </a:rPr>
                        <a:t>Checklist item: MFA enabled</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BE9D0"/>
                    </a:solidFill>
                  </a:tcPr>
                </a:tc>
                <a:tc>
                  <a:txBody>
                    <a:bodyPr/>
                    <a:lstStyle/>
                    <a:p>
                      <a:pPr algn="l"/>
                      <a:r>
                        <a:rPr sz="1050" b="1">
                          <a:solidFill>
                            <a:srgbClr val="8A5A17"/>
                          </a:solidFill>
                          <a:latin typeface="IBM Plex Sans"/>
                          <a:ea typeface="IBM Plex Sans"/>
                          <a:cs typeface="IBM Plex Sans"/>
                        </a:rPr>
                        <a:t>Mismatch</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BE9D0"/>
                    </a:solidFill>
                  </a:tcPr>
                </a:tc>
                <a:extLst>
                  <a:ext uri="{0D108BD9-81ED-4DB2-BD59-A6C34878D82A}">
                    <a16:rowId xmlns:a16="http://schemas.microsoft.com/office/drawing/2014/main" val="10003"/>
                  </a:ext>
                </a:extLst>
              </a:tr>
              <a:tr h="457200">
                <a:tc>
                  <a:txBody>
                    <a:bodyPr/>
                    <a:lstStyle/>
                    <a:p>
                      <a:pPr algn="l"/>
                      <a:r>
                        <a:rPr sz="1050" b="1">
                          <a:solidFill>
                            <a:srgbClr val="141A2B"/>
                          </a:solidFill>
                          <a:latin typeface="IBM Plex Sans"/>
                          <a:ea typeface="IBM Plex Sans"/>
                          <a:cs typeface="IBM Plex Sans"/>
                        </a:rPr>
                        <a:t>Verified quotes</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0">
                          <a:solidFill>
                            <a:srgbClr val="4A5568"/>
                          </a:solidFill>
                          <a:latin typeface="JetBrains Mono"/>
                          <a:ea typeface="JetBrains Mono"/>
                          <a:cs typeface="JetBrains Mono"/>
                        </a:rPr>
                        <a:t>1 / 1</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0">
                          <a:solidFill>
                            <a:srgbClr val="4A5568"/>
                          </a:solidFill>
                          <a:latin typeface="JetBrains Mono"/>
                          <a:ea typeface="JetBrains Mono"/>
                          <a:cs typeface="JetBrains Mono"/>
                        </a:rPr>
                        <a:t>all</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1">
                          <a:solidFill>
                            <a:srgbClr val="0F6358"/>
                          </a:solidFill>
                          <a:latin typeface="IBM Plex Sans"/>
                          <a:ea typeface="IBM Plex Sans"/>
                          <a:cs typeface="IBM Plex Sans"/>
                        </a:rPr>
                        <a:t>Match</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extLst>
                  <a:ext uri="{0D108BD9-81ED-4DB2-BD59-A6C34878D82A}">
                    <a16:rowId xmlns:a16="http://schemas.microsoft.com/office/drawing/2014/main" val="10004"/>
                  </a:ext>
                </a:extLst>
              </a:tr>
              <a:tr h="457200">
                <a:tc>
                  <a:txBody>
                    <a:bodyPr/>
                    <a:lstStyle/>
                    <a:p>
                      <a:pPr algn="l"/>
                      <a:r>
                        <a:rPr sz="1050" b="1">
                          <a:solidFill>
                            <a:srgbClr val="141A2B"/>
                          </a:solidFill>
                          <a:latin typeface="IBM Plex Sans"/>
                          <a:ea typeface="IBM Plex Sans"/>
                          <a:cs typeface="IBM Plex Sans"/>
                        </a:rPr>
                        <a:t>Source version</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0">
                          <a:solidFill>
                            <a:srgbClr val="4A5568"/>
                          </a:solidFill>
                          <a:latin typeface="IBM Plex Sans"/>
                          <a:ea typeface="IBM Plex Sans"/>
                          <a:cs typeface="IBM Plex Sans"/>
                        </a:rPr>
                        <a:t>1.0</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0">
                          <a:solidFill>
                            <a:srgbClr val="4A5568"/>
                          </a:solidFill>
                          <a:latin typeface="IBM Plex Sans"/>
                          <a:ea typeface="IBM Plex Sans"/>
                          <a:cs typeface="IBM Plex Sans"/>
                        </a:rPr>
                        <a:t>1.0</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tc>
                  <a:txBody>
                    <a:bodyPr/>
                    <a:lstStyle/>
                    <a:p>
                      <a:pPr algn="l"/>
                      <a:r>
                        <a:rPr sz="1050" b="1">
                          <a:solidFill>
                            <a:srgbClr val="0F6358"/>
                          </a:solidFill>
                          <a:latin typeface="IBM Plex Sans"/>
                          <a:ea typeface="IBM Plex Sans"/>
                          <a:cs typeface="IBM Plex Sans"/>
                        </a:rPr>
                        <a:t>Match</a:t>
                      </a:r>
                    </a:p>
                  </a:txBody>
                  <a:tcPr marR="54864" marT="18288" marB="18288" anchor="ctr">
                    <a:lnL w="9525" cap="flat" cmpd="sng" algn="ctr">
                      <a:solidFill>
                        <a:srgbClr val="E2E4E0"/>
                      </a:solidFill>
                    </a:lnL>
                    <a:lnR w="9525" cap="flat" cmpd="sng" algn="ctr">
                      <a:solidFill>
                        <a:srgbClr val="E2E4E0"/>
                      </a:solidFill>
                    </a:lnR>
                    <a:lnT w="9525" cap="flat" cmpd="sng" algn="ctr">
                      <a:solidFill>
                        <a:srgbClr val="E2E4E0"/>
                      </a:solidFill>
                    </a:lnT>
                    <a:lnB w="9525" cap="flat" cmpd="sng" algn="ctr">
                      <a:solidFill>
                        <a:srgbClr val="E2E4E0"/>
                      </a:solidFill>
                    </a:lnB>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7717536" y="1700784"/>
            <a:ext cx="3657600" cy="841248"/>
          </a:xfrm>
          <a:prstGeom prst="roundRect">
            <a:avLst>
              <a:gd name="adj" fmla="val 12000"/>
            </a:avLst>
          </a:prstGeom>
          <a:solidFill>
            <a:srgbClr val="D9F0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7882127" y="1792224"/>
            <a:ext cx="3328416" cy="658368"/>
          </a:xfrm>
          <a:prstGeom prst="rect">
            <a:avLst/>
          </a:prstGeom>
          <a:noFill/>
        </p:spPr>
        <p:txBody>
          <a:bodyPr wrap="square" lIns="0" tIns="0" rIns="0" bIns="0" anchor="ctr">
            <a:noAutofit/>
          </a:bodyPr>
          <a:lstStyle/>
          <a:p>
            <a:pPr algn="l">
              <a:lnSpc>
                <a:spcPct val="115000"/>
              </a:lnSpc>
            </a:pPr>
            <a:r>
              <a:rPr sz="1000" b="1" i="0" spc="100">
                <a:solidFill>
                  <a:srgbClr val="0F6358"/>
                </a:solidFill>
                <a:latin typeface="JetBrains Mono"/>
                <a:ea typeface="JetBrains Mono"/>
                <a:cs typeface="JetBrains Mono"/>
              </a:rPr>
              <a:t>VERIFIED</a:t>
            </a:r>
          </a:p>
          <a:p>
            <a:pPr algn="l">
              <a:lnSpc>
                <a:spcPct val="115000"/>
              </a:lnSpc>
              <a:spcBef>
                <a:spcPts val="300"/>
              </a:spcBef>
            </a:pPr>
            <a:r>
              <a:rPr sz="1050" b="0" i="0">
                <a:solidFill>
                  <a:srgbClr val="0F6358"/>
                </a:solidFill>
                <a:latin typeface="IBM Plex Sans"/>
                <a:ea typeface="IBM Plex Sans"/>
                <a:cs typeface="IBM Plex Sans"/>
              </a:rPr>
              <a:t>Every field matches. Publishes with no justification.</a:t>
            </a:r>
          </a:p>
        </p:txBody>
      </p:sp>
      <p:sp>
        <p:nvSpPr>
          <p:cNvPr id="8" name="Rounded Rectangle 7"/>
          <p:cNvSpPr/>
          <p:nvPr/>
        </p:nvSpPr>
        <p:spPr>
          <a:xfrm>
            <a:off x="7717536" y="2651760"/>
            <a:ext cx="3657600" cy="841248"/>
          </a:xfrm>
          <a:prstGeom prst="roundRect">
            <a:avLst>
              <a:gd name="adj" fmla="val 12000"/>
            </a:avLst>
          </a:prstGeom>
          <a:solidFill>
            <a:srgbClr val="FBE9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7882127" y="2743200"/>
            <a:ext cx="3328416" cy="658368"/>
          </a:xfrm>
          <a:prstGeom prst="rect">
            <a:avLst/>
          </a:prstGeom>
          <a:noFill/>
        </p:spPr>
        <p:txBody>
          <a:bodyPr wrap="square" lIns="0" tIns="0" rIns="0" bIns="0" anchor="ctr">
            <a:noAutofit/>
          </a:bodyPr>
          <a:lstStyle/>
          <a:p>
            <a:pPr algn="l">
              <a:lnSpc>
                <a:spcPct val="115000"/>
              </a:lnSpc>
            </a:pPr>
            <a:r>
              <a:rPr sz="1000" b="1" i="0" spc="100">
                <a:solidFill>
                  <a:srgbClr val="8A5A17"/>
                </a:solidFill>
                <a:latin typeface="JetBrains Mono"/>
                <a:ea typeface="JetBrains Mono"/>
                <a:cs typeface="JetBrains Mono"/>
              </a:rPr>
              <a:t>WARNING</a:t>
            </a:r>
          </a:p>
          <a:p>
            <a:pPr algn="l">
              <a:lnSpc>
                <a:spcPct val="115000"/>
              </a:lnSpc>
              <a:spcBef>
                <a:spcPts val="300"/>
              </a:spcBef>
            </a:pPr>
            <a:r>
              <a:rPr sz="1050" b="0" i="0">
                <a:solidFill>
                  <a:srgbClr val="8A5A17"/>
                </a:solidFill>
                <a:latin typeface="IBM Plex Sans"/>
                <a:ea typeface="IBM Plex Sans"/>
                <a:cs typeface="IBM Plex Sans"/>
              </a:rPr>
              <a:t>A field disagrees. The Reviewer must log a reason to publish.</a:t>
            </a:r>
          </a:p>
        </p:txBody>
      </p:sp>
      <p:sp>
        <p:nvSpPr>
          <p:cNvPr id="10" name="Rounded Rectangle 9"/>
          <p:cNvSpPr/>
          <p:nvPr/>
        </p:nvSpPr>
        <p:spPr>
          <a:xfrm>
            <a:off x="7717536" y="3602736"/>
            <a:ext cx="3657600" cy="841248"/>
          </a:xfrm>
          <a:prstGeom prst="roundRect">
            <a:avLst>
              <a:gd name="adj" fmla="val 12000"/>
            </a:avLst>
          </a:prstGeom>
          <a:solidFill>
            <a:srgbClr val="141A2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7882127" y="3694176"/>
            <a:ext cx="3328416" cy="658368"/>
          </a:xfrm>
          <a:prstGeom prst="rect">
            <a:avLst/>
          </a:prstGeom>
          <a:noFill/>
        </p:spPr>
        <p:txBody>
          <a:bodyPr wrap="square" lIns="0" tIns="0" rIns="0" bIns="0" anchor="ctr">
            <a:noAutofit/>
          </a:bodyPr>
          <a:lstStyle/>
          <a:p>
            <a:pPr algn="l">
              <a:lnSpc>
                <a:spcPct val="115000"/>
              </a:lnSpc>
            </a:pPr>
            <a:r>
              <a:rPr sz="1000" b="1" i="0" spc="100">
                <a:solidFill>
                  <a:srgbClr val="F7A08D"/>
                </a:solidFill>
                <a:latin typeface="JetBrains Mono"/>
                <a:ea typeface="JetBrains Mono"/>
                <a:cs typeface="JetBrains Mono"/>
              </a:rPr>
              <a:t>BLOCKED</a:t>
            </a:r>
          </a:p>
          <a:p>
            <a:pPr algn="l">
              <a:lnSpc>
                <a:spcPct val="115000"/>
              </a:lnSpc>
              <a:spcBef>
                <a:spcPts val="300"/>
              </a:spcBef>
            </a:pPr>
            <a:r>
              <a:rPr sz="1050" b="0" i="0">
                <a:solidFill>
                  <a:srgbClr val="C7CCD8"/>
                </a:solidFill>
                <a:latin typeface="IBM Plex Sans"/>
                <a:ea typeface="IBM Plex Sans"/>
                <a:cs typeface="IBM Plex Sans"/>
              </a:rPr>
              <a:t>Hallucination, unsourced content, injection. Nothing overrides it.</a:t>
            </a:r>
          </a:p>
        </p:txBody>
      </p:sp>
      <p:sp>
        <p:nvSpPr>
          <p:cNvPr id="12" name="Rounded Rectangle 11"/>
          <p:cNvSpPr/>
          <p:nvPr/>
        </p:nvSpPr>
        <p:spPr>
          <a:xfrm>
            <a:off x="813816" y="4681728"/>
            <a:ext cx="10561320" cy="658368"/>
          </a:xfrm>
          <a:prstGeom prst="roundRect">
            <a:avLst>
              <a:gd name="adj" fmla="val 16000"/>
            </a:avLst>
          </a:prstGeom>
          <a:solidFill>
            <a:srgbClr val="FBE9D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pic>
        <p:nvPicPr>
          <p:cNvPr id="13" name="Picture 12" descr="image19.png"/>
          <p:cNvPicPr>
            <a:picLocks noChangeAspect="1"/>
          </p:cNvPicPr>
          <p:nvPr/>
        </p:nvPicPr>
        <p:blipFill>
          <a:blip r:embed="rId3"/>
          <a:stretch>
            <a:fillRect/>
          </a:stretch>
        </p:blipFill>
        <p:spPr>
          <a:xfrm>
            <a:off x="1024128" y="4901184"/>
            <a:ext cx="219456" cy="219456"/>
          </a:xfrm>
          <a:prstGeom prst="rect">
            <a:avLst/>
          </a:prstGeom>
        </p:spPr>
      </p:pic>
      <p:sp>
        <p:nvSpPr>
          <p:cNvPr id="14" name="TextBox 13"/>
          <p:cNvSpPr txBox="1"/>
          <p:nvPr/>
        </p:nvSpPr>
        <p:spPr>
          <a:xfrm>
            <a:off x="1389888" y="4791456"/>
            <a:ext cx="9784080" cy="438912"/>
          </a:xfrm>
          <a:prstGeom prst="rect">
            <a:avLst/>
          </a:prstGeom>
          <a:noFill/>
        </p:spPr>
        <p:txBody>
          <a:bodyPr wrap="square" lIns="0" tIns="0" rIns="0" bIns="0" anchor="ctr">
            <a:noAutofit/>
          </a:bodyPr>
          <a:lstStyle/>
          <a:p>
            <a:pPr algn="l">
              <a:lnSpc>
                <a:spcPct val="115000"/>
              </a:lnSpc>
            </a:pPr>
            <a:r>
              <a:rPr sz="1150" b="1" i="0">
                <a:solidFill>
                  <a:srgbClr val="8A5A17"/>
                </a:solidFill>
                <a:latin typeface="IBM Plex Sans"/>
                <a:ea typeface="IBM Plex Sans"/>
                <a:cs typeface="IBM Plex Sans"/>
              </a:rPr>
              <a:t>Verified with Warning</a:t>
            </a:r>
            <a:r>
              <a:rPr sz="1150" b="0" i="0">
                <a:solidFill>
                  <a:srgbClr val="8A5A17"/>
                </a:solidFill>
                <a:latin typeface="IBM Plex Sans"/>
                <a:ea typeface="IBM Plex Sans"/>
                <a:cs typeface="IBM Plex Sans"/>
              </a:rPr>
              <a:t> — taught and sourced correctly, but not yet assessed. The Reviewer must log a reason to publish.</a:t>
            </a:r>
          </a:p>
        </p:txBody>
      </p:sp>
      <p:sp>
        <p:nvSpPr>
          <p:cNvPr id="15" name="TextBox 14"/>
          <p:cNvSpPr txBox="1"/>
          <p:nvPr/>
        </p:nvSpPr>
        <p:spPr>
          <a:xfrm>
            <a:off x="813816" y="5468112"/>
            <a:ext cx="8229600" cy="201168"/>
          </a:xfrm>
          <a:prstGeom prst="rect">
            <a:avLst/>
          </a:prstGeom>
          <a:noFill/>
        </p:spPr>
        <p:txBody>
          <a:bodyPr wrap="square" lIns="0" tIns="0" rIns="0" bIns="0" anchor="t">
            <a:noAutofit/>
          </a:bodyPr>
          <a:lstStyle/>
          <a:p>
            <a:pPr algn="l"/>
            <a:r>
              <a:rPr sz="900" b="0" i="0" spc="40">
                <a:solidFill>
                  <a:srgbClr val="9099A6"/>
                </a:solidFill>
                <a:latin typeface="JetBrains Mono"/>
                <a:ea typeface="JetBrains Mono"/>
                <a:cs typeface="JetBrains Mono"/>
              </a:rPr>
              <a:t>R054 · requirement record from the running system · 6 fields compared</a:t>
            </a:r>
          </a:p>
        </p:txBody>
      </p:sp>
      <p:sp>
        <p:nvSpPr>
          <p:cNvPr id="16" name="TextBox 15"/>
          <p:cNvSpPr txBox="1"/>
          <p:nvPr/>
        </p:nvSpPr>
        <p:spPr>
          <a:xfrm>
            <a:off x="813816" y="6336792"/>
            <a:ext cx="2926080" cy="201168"/>
          </a:xfrm>
          <a:prstGeom prst="rect">
            <a:avLst/>
          </a:prstGeom>
          <a:noFill/>
        </p:spPr>
        <p:txBody>
          <a:bodyPr wrap="square" lIns="0" tIns="0" rIns="0" bIns="0" anchor="t">
            <a:noAutofit/>
          </a:bodyPr>
          <a:lstStyle/>
          <a:p>
            <a:pPr algn="l"/>
            <a:r>
              <a:rPr sz="1000" b="0" i="0" spc="40">
                <a:solidFill>
                  <a:srgbClr val="9099A6"/>
                </a:solidFill>
                <a:latin typeface="JetBrains Mono"/>
                <a:ea typeface="JetBrains Mono"/>
                <a:cs typeface="JetBrains Mono"/>
              </a:rPr>
              <a:t>SkillSprint AI</a:t>
            </a:r>
          </a:p>
        </p:txBody>
      </p:sp>
      <p:sp>
        <p:nvSpPr>
          <p:cNvPr id="17" name="TextBox 16"/>
          <p:cNvSpPr txBox="1"/>
          <p:nvPr/>
        </p:nvSpPr>
        <p:spPr>
          <a:xfrm>
            <a:off x="9875520" y="6336792"/>
            <a:ext cx="1508760" cy="201168"/>
          </a:xfrm>
          <a:prstGeom prst="rect">
            <a:avLst/>
          </a:prstGeom>
          <a:noFill/>
        </p:spPr>
        <p:txBody>
          <a:bodyPr wrap="square" lIns="0" tIns="0" rIns="0" bIns="0" anchor="t">
            <a:noAutofit/>
          </a:bodyPr>
          <a:lstStyle/>
          <a:p>
            <a:pPr algn="r"/>
            <a:r>
              <a:rPr sz="1000" b="0" i="0" spc="40">
                <a:solidFill>
                  <a:srgbClr val="9099A6"/>
                </a:solidFill>
                <a:latin typeface="JetBrains Mono"/>
                <a:ea typeface="JetBrains Mono"/>
                <a:cs typeface="JetBrains Mono"/>
              </a:rPr>
              <a:t>04 / 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6858000"/>
          </a:xfrm>
          <a:prstGeom prst="rect">
            <a:avLst/>
          </a:prstGeom>
          <a:gradFill rotWithShape="1">
            <a:gsLst>
              <a:gs pos="0">
                <a:srgbClr val="141A2B"/>
              </a:gs>
              <a:gs pos="100000">
                <a:srgbClr val="1C2742"/>
              </a:gs>
            </a:gsLst>
            <a:lin ang="189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813816" y="2304288"/>
            <a:ext cx="8229600" cy="914400"/>
          </a:xfrm>
        </p:spPr>
        <p:txBody>
          <a:bodyPr wrap="square" lIns="0" tIns="0" rIns="0" bIns="0" anchor="t">
            <a:noAutofit/>
          </a:bodyPr>
          <a:lstStyle/>
          <a:p>
            <a:pPr algn="l">
              <a:lnSpc>
                <a:spcPct val="100000"/>
              </a:lnSpc>
            </a:pPr>
            <a:r>
              <a:rPr sz="5800" b="1">
                <a:solidFill>
                  <a:srgbClr val="F3F4F1"/>
                </a:solidFill>
                <a:latin typeface="IBM Plex Sans"/>
                <a:ea typeface="IBM Plex Sans"/>
                <a:cs typeface="IBM Plex Sans"/>
              </a:rPr>
              <a:t>Thank you.</a:t>
            </a:r>
          </a:p>
        </p:txBody>
      </p:sp>
      <p:pic>
        <p:nvPicPr>
          <p:cNvPr id="4" name="Picture 3" descr="image1.png"/>
          <p:cNvPicPr>
            <a:picLocks noChangeAspect="1"/>
          </p:cNvPicPr>
          <p:nvPr/>
        </p:nvPicPr>
        <p:blipFill>
          <a:blip r:embed="rId3"/>
          <a:stretch>
            <a:fillRect/>
          </a:stretch>
        </p:blipFill>
        <p:spPr>
          <a:xfrm>
            <a:off x="8503920" y="-1417320"/>
            <a:ext cx="4480560" cy="4480560"/>
          </a:xfrm>
          <a:prstGeom prst="rect">
            <a:avLst/>
          </a:prstGeom>
        </p:spPr>
      </p:pic>
      <p:pic>
        <p:nvPicPr>
          <p:cNvPr id="5" name="Picture 4" descr="image2.png"/>
          <p:cNvPicPr>
            <a:picLocks noChangeAspect="1"/>
          </p:cNvPicPr>
          <p:nvPr/>
        </p:nvPicPr>
        <p:blipFill>
          <a:blip r:embed="rId4"/>
          <a:stretch>
            <a:fillRect/>
          </a:stretch>
        </p:blipFill>
        <p:spPr>
          <a:xfrm>
            <a:off x="-1051560" y="3703320"/>
            <a:ext cx="4023360" cy="4023360"/>
          </a:xfrm>
          <a:prstGeom prst="rect">
            <a:avLst/>
          </a:prstGeom>
        </p:spPr>
      </p:pic>
      <p:sp>
        <p:nvSpPr>
          <p:cNvPr id="6" name="Rounded Rectangle 5"/>
          <p:cNvSpPr/>
          <p:nvPr/>
        </p:nvSpPr>
        <p:spPr>
          <a:xfrm>
            <a:off x="813816" y="1883664"/>
            <a:ext cx="3017520" cy="310896"/>
          </a:xfrm>
          <a:prstGeom prst="roundRect">
            <a:avLst>
              <a:gd name="adj" fmla="val 50000"/>
            </a:avLst>
          </a:prstGeom>
          <a:solidFill>
            <a:srgbClr val="1C9C8A">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813816" y="1947672"/>
            <a:ext cx="3017520" cy="182880"/>
          </a:xfrm>
          <a:prstGeom prst="rect">
            <a:avLst/>
          </a:prstGeom>
          <a:noFill/>
        </p:spPr>
        <p:txBody>
          <a:bodyPr wrap="square" lIns="0" tIns="0" rIns="0" bIns="0" anchor="t">
            <a:noAutofit/>
          </a:bodyPr>
          <a:lstStyle/>
          <a:p>
            <a:pPr algn="ctr"/>
            <a:r>
              <a:rPr sz="950" b="0" i="0" spc="110">
                <a:solidFill>
                  <a:srgbClr val="6FD9C8"/>
                </a:solidFill>
                <a:latin typeface="JetBrains Mono"/>
                <a:ea typeface="JetBrains Mono"/>
                <a:cs typeface="JetBrains Mono"/>
              </a:rPr>
              <a:t>QUESTIONS &amp; ANSWERS</a:t>
            </a:r>
          </a:p>
        </p:txBody>
      </p:sp>
      <p:sp>
        <p:nvSpPr>
          <p:cNvPr id="8" name="TextBox 7"/>
          <p:cNvSpPr txBox="1"/>
          <p:nvPr/>
        </p:nvSpPr>
        <p:spPr>
          <a:xfrm>
            <a:off x="813816" y="3364992"/>
            <a:ext cx="7863840" cy="310896"/>
          </a:xfrm>
          <a:prstGeom prst="rect">
            <a:avLst/>
          </a:prstGeom>
          <a:noFill/>
        </p:spPr>
        <p:txBody>
          <a:bodyPr wrap="square" lIns="0" tIns="0" rIns="0" bIns="0" anchor="t">
            <a:noAutofit/>
          </a:bodyPr>
          <a:lstStyle/>
          <a:p>
            <a:pPr algn="l"/>
            <a:r>
              <a:rPr sz="1900" b="0" i="0">
                <a:solidFill>
                  <a:srgbClr val="C7CCD8"/>
                </a:solidFill>
                <a:latin typeface="IBM Plex Sans"/>
                <a:ea typeface="IBM Plex Sans"/>
                <a:cs typeface="IBM Plex Sans"/>
              </a:rPr>
              <a:t>Cảm ơn Quý Hội đồng đã lắng nghe.</a:t>
            </a:r>
          </a:p>
        </p:txBody>
      </p:sp>
      <p:sp>
        <p:nvSpPr>
          <p:cNvPr id="9" name="TextBox 8"/>
          <p:cNvSpPr txBox="1"/>
          <p:nvPr/>
        </p:nvSpPr>
        <p:spPr>
          <a:xfrm>
            <a:off x="813816" y="3767328"/>
            <a:ext cx="7863840" cy="237744"/>
          </a:xfrm>
          <a:prstGeom prst="rect">
            <a:avLst/>
          </a:prstGeom>
          <a:noFill/>
        </p:spPr>
        <p:txBody>
          <a:bodyPr wrap="square" lIns="0" tIns="0" rIns="0" bIns="0" anchor="t">
            <a:noAutofit/>
          </a:bodyPr>
          <a:lstStyle/>
          <a:p>
            <a:pPr algn="l"/>
            <a:r>
              <a:rPr sz="1000" b="0" i="0" spc="100">
                <a:solidFill>
                  <a:srgbClr val="8D94A6"/>
                </a:solidFill>
                <a:latin typeface="JetBrains Mono"/>
                <a:ea typeface="JetBrains Mono"/>
                <a:cs typeface="JetBrains Mono"/>
              </a:rPr>
              <a:t>TEAM FOURANGRYBIRDS · SKILLSPRINT AI · FPT APTECH HCMC</a:t>
            </a:r>
          </a:p>
        </p:txBody>
      </p:sp>
      <p:sp>
        <p:nvSpPr>
          <p:cNvPr id="10" name="Rectangle 9"/>
          <p:cNvSpPr/>
          <p:nvPr/>
        </p:nvSpPr>
        <p:spPr>
          <a:xfrm>
            <a:off x="813816" y="4663440"/>
            <a:ext cx="5120640" cy="10972"/>
          </a:xfrm>
          <a:prstGeom prst="rect">
            <a:avLst/>
          </a:prstGeom>
          <a:solidFill>
            <a:srgbClr val="2A35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3816" y="4809744"/>
            <a:ext cx="8229600" cy="237744"/>
          </a:xfrm>
          <a:prstGeom prst="rect">
            <a:avLst/>
          </a:prstGeom>
          <a:noFill/>
        </p:spPr>
        <p:txBody>
          <a:bodyPr wrap="square" lIns="0" tIns="0" rIns="0" bIns="0" anchor="t">
            <a:noAutofit/>
          </a:bodyPr>
          <a:lstStyle/>
          <a:p>
            <a:pPr algn="l"/>
            <a:r>
              <a:rPr sz="1150" b="0" i="0">
                <a:solidFill>
                  <a:srgbClr val="8D94A6"/>
                </a:solidFill>
                <a:latin typeface="IBM Plex Sans"/>
                <a:ea typeface="IBM Plex Sans"/>
                <a:cs typeface="IBM Plex Sans"/>
              </a:rPr>
              <a:t>Chau Quoc Lam Phong · Đoan Thi Quynh Nhi · Pham Tan Tai · Le Thi Kieu Duyen</a:t>
            </a:r>
          </a:p>
        </p:txBody>
      </p:sp>
      <p:sp>
        <p:nvSpPr>
          <p:cNvPr id="12" name="TextBox 11"/>
          <p:cNvSpPr txBox="1"/>
          <p:nvPr/>
        </p:nvSpPr>
        <p:spPr>
          <a:xfrm>
            <a:off x="813816" y="5248656"/>
            <a:ext cx="5486400" cy="219456"/>
          </a:xfrm>
          <a:prstGeom prst="rect">
            <a:avLst/>
          </a:prstGeom>
          <a:noFill/>
        </p:spPr>
        <p:txBody>
          <a:bodyPr wrap="square" lIns="0" tIns="0" rIns="0" bIns="0" anchor="t">
            <a:noAutofit/>
          </a:bodyPr>
          <a:lstStyle/>
          <a:p>
            <a:pPr algn="l"/>
            <a:r>
              <a:rPr sz="1200" b="0" i="0" spc="40">
                <a:solidFill>
                  <a:srgbClr val="6FD9C8"/>
                </a:solidFill>
                <a:latin typeface="JetBrains Mono"/>
                <a:ea typeface="JetBrains Mono"/>
                <a:cs typeface="JetBrains Mono"/>
              </a:rPr>
              <a:t>Verified, not just generated.</a:t>
            </a:r>
          </a:p>
        </p:txBody>
      </p:sp>
      <p:sp>
        <p:nvSpPr>
          <p:cNvPr id="13" name="TextBox 12"/>
          <p:cNvSpPr txBox="1"/>
          <p:nvPr/>
        </p:nvSpPr>
        <p:spPr>
          <a:xfrm>
            <a:off x="813816" y="6336792"/>
            <a:ext cx="2926080" cy="201168"/>
          </a:xfrm>
          <a:prstGeom prst="rect">
            <a:avLst/>
          </a:prstGeom>
          <a:noFill/>
        </p:spPr>
        <p:txBody>
          <a:bodyPr wrap="square" lIns="0" tIns="0" rIns="0" bIns="0" anchor="t">
            <a:noAutofit/>
          </a:bodyPr>
          <a:lstStyle/>
          <a:p>
            <a:pPr algn="l"/>
            <a:r>
              <a:rPr sz="1000" b="0" i="0" spc="40">
                <a:solidFill>
                  <a:srgbClr val="9099A6"/>
                </a:solidFill>
                <a:latin typeface="JetBrains Mono"/>
                <a:ea typeface="JetBrains Mono"/>
                <a:cs typeface="JetBrains Mono"/>
              </a:rPr>
              <a:t>SkillSprint AI</a:t>
            </a:r>
          </a:p>
        </p:txBody>
      </p:sp>
      <p:sp>
        <p:nvSpPr>
          <p:cNvPr id="14" name="TextBox 13"/>
          <p:cNvSpPr txBox="1"/>
          <p:nvPr/>
        </p:nvSpPr>
        <p:spPr>
          <a:xfrm>
            <a:off x="9875520" y="6336792"/>
            <a:ext cx="1508760" cy="201168"/>
          </a:xfrm>
          <a:prstGeom prst="rect">
            <a:avLst/>
          </a:prstGeom>
          <a:noFill/>
        </p:spPr>
        <p:txBody>
          <a:bodyPr wrap="square" lIns="0" tIns="0" rIns="0" bIns="0" anchor="t">
            <a:noAutofit/>
          </a:bodyPr>
          <a:lstStyle/>
          <a:p>
            <a:pPr algn="r"/>
            <a:r>
              <a:rPr sz="1000" b="0" i="0" spc="40">
                <a:solidFill>
                  <a:srgbClr val="9099A6"/>
                </a:solidFill>
                <a:latin typeface="JetBrains Mono"/>
                <a:ea typeface="JetBrains Mono"/>
                <a:cs typeface="JetBrains Mono"/>
              </a:rPr>
              <a:t>05 / 05</a:t>
            </a:r>
          </a:p>
        </p:txBody>
      </p:sp>
    </p:spTree>
  </p:cSld>
  <p:clrMapOvr>
    <a:masterClrMapping/>
  </p:clrMapOvr>
</p:sld>
</file>

<file path=ppt/theme/theme1.xml><?xml version="1.0" encoding="utf-8"?>
<a:theme xmlns:a="http://schemas.openxmlformats.org/drawingml/2006/main" name="SkillSprint AI — TechWiz 7 Viva">
  <a:themeElements>
    <a:clrScheme name="SkillSprint AI — TechWiz 7 Viva">
      <a:dk1>
        <a:srgbClr val="141A2B"/>
      </a:dk1>
      <a:lt1>
        <a:srgbClr val="FAFAF8"/>
      </a:lt1>
      <a:dk2>
        <a:srgbClr val="4E525E"/>
      </a:dk2>
      <a:lt2>
        <a:srgbClr val="E3E4E4"/>
      </a:lt2>
      <a:accent1>
        <a:srgbClr val="1C9C8A"/>
      </a:accent1>
      <a:accent2>
        <a:srgbClr val="0F6358"/>
      </a:accent2>
      <a:accent3>
        <a:srgbClr val="6FD9C8"/>
      </a:accent3>
      <a:accent4>
        <a:srgbClr val="8A5A17"/>
      </a:accent4>
      <a:accent5>
        <a:srgbClr val="FBE9D0"/>
      </a:accent5>
      <a:accent6>
        <a:srgbClr val="F7A08D"/>
      </a:accent6>
      <a:hlink>
        <a:srgbClr val="0563C1"/>
      </a:hlink>
      <a:folHlink>
        <a:srgbClr val="954F72"/>
      </a:folHlink>
    </a:clrScheme>
    <a:fontScheme name="SkillSprint AI — TechWiz 7 Viv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787</Words>
  <Application>Microsoft Office PowerPoint</Application>
  <PresentationFormat>Widescreen</PresentationFormat>
  <Paragraphs>141</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IBM Plex Sans</vt:lpstr>
      <vt:lpstr>JetBrains Mono</vt:lpstr>
      <vt:lpstr>Arial</vt:lpstr>
      <vt:lpstr>SkillSprint AI — TechWiz 7 Viva</vt:lpstr>
      <vt:lpstr>SkillSprint AI</vt:lpstr>
      <vt:lpstr>Stack, Architecture, Workflow</vt:lpstr>
      <vt:lpstr>Two Pipelines: One Writes, One Verifies</vt:lpstr>
      <vt:lpstr>Field-by-Field, Not Pass / Fail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SkillSprint AI — TechWiz 7 Viva</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phamtan tai</cp:lastModifiedBy>
  <cp:revision>3</cp:revision>
  <dcterms:created xsi:type="dcterms:W3CDTF">2026-10-26T15:57:51Z</dcterms:created>
  <dcterms:modified xsi:type="dcterms:W3CDTF">2026-10-26T18:54:16Z</dcterms:modified>
</cp:coreProperties>
</file>